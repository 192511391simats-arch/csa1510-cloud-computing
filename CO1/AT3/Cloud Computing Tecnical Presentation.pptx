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45549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45549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45549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9656" y="3727244"/>
            <a:ext cx="2758341" cy="464571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48277" y="0"/>
            <a:ext cx="4968449" cy="32093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45549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3505" y="1257485"/>
            <a:ext cx="17140988" cy="1267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45549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5541" y="2404612"/>
            <a:ext cx="17136917" cy="7179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8700"/>
            <a:ext cx="7035800" cy="0"/>
          </a:xfrm>
          <a:custGeom>
            <a:avLst/>
            <a:gdLst/>
            <a:ahLst/>
            <a:cxnLst/>
            <a:rect l="l" t="t" r="r" b="b"/>
            <a:pathLst>
              <a:path w="7035800">
                <a:moveTo>
                  <a:pt x="0" y="0"/>
                </a:moveTo>
                <a:lnTo>
                  <a:pt x="703555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252441" y="1028700"/>
            <a:ext cx="7035800" cy="0"/>
          </a:xfrm>
          <a:custGeom>
            <a:avLst/>
            <a:gdLst/>
            <a:ahLst/>
            <a:cxnLst/>
            <a:rect l="l" t="t" r="r" b="b"/>
            <a:pathLst>
              <a:path w="7035800">
                <a:moveTo>
                  <a:pt x="0" y="0"/>
                </a:moveTo>
                <a:lnTo>
                  <a:pt x="703555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9266" y="6328311"/>
            <a:ext cx="4028732" cy="39490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328311"/>
            <a:ext cx="4028631" cy="39490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67924" y="3594497"/>
            <a:ext cx="15000876" cy="4573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1715" marR="5080" indent="-3549650">
              <a:lnSpc>
                <a:spcPct val="116300"/>
              </a:lnSpc>
              <a:spcBef>
                <a:spcPts val="100"/>
              </a:spcBef>
            </a:pPr>
            <a:r>
              <a:rPr sz="5050" b="1" spc="-325" dirty="0">
                <a:latin typeface="Verdana"/>
                <a:cs typeface="Verdana"/>
              </a:rPr>
              <a:t>Content</a:t>
            </a:r>
            <a:r>
              <a:rPr sz="5050" b="1" spc="-540" dirty="0">
                <a:latin typeface="Verdana"/>
                <a:cs typeface="Verdana"/>
              </a:rPr>
              <a:t> </a:t>
            </a:r>
            <a:r>
              <a:rPr sz="5050" b="1" spc="-380" dirty="0">
                <a:latin typeface="Verdana"/>
                <a:cs typeface="Verdana"/>
              </a:rPr>
              <a:t>Delivery</a:t>
            </a:r>
            <a:r>
              <a:rPr sz="5050" b="1" spc="-540" dirty="0">
                <a:latin typeface="Verdana"/>
                <a:cs typeface="Verdana"/>
              </a:rPr>
              <a:t> </a:t>
            </a:r>
            <a:r>
              <a:rPr sz="5050" b="1" spc="-430" dirty="0">
                <a:latin typeface="Verdana"/>
                <a:cs typeface="Verdana"/>
              </a:rPr>
              <a:t>Networks</a:t>
            </a:r>
            <a:r>
              <a:rPr sz="5050" b="1" spc="-535" dirty="0">
                <a:latin typeface="Verdana"/>
                <a:cs typeface="Verdana"/>
              </a:rPr>
              <a:t> </a:t>
            </a:r>
            <a:r>
              <a:rPr sz="5050" b="1" spc="-425" dirty="0">
                <a:latin typeface="Verdana"/>
                <a:cs typeface="Verdana"/>
              </a:rPr>
              <a:t>(CDNs)</a:t>
            </a:r>
            <a:r>
              <a:rPr sz="5050" b="1" spc="-540" dirty="0">
                <a:latin typeface="Verdana"/>
                <a:cs typeface="Verdana"/>
              </a:rPr>
              <a:t> </a:t>
            </a:r>
            <a:r>
              <a:rPr sz="5050" b="1" spc="-415" dirty="0">
                <a:latin typeface="Verdana"/>
                <a:cs typeface="Verdana"/>
              </a:rPr>
              <a:t>and</a:t>
            </a:r>
            <a:r>
              <a:rPr sz="5050" b="1" spc="-535" dirty="0">
                <a:latin typeface="Verdana"/>
                <a:cs typeface="Verdana"/>
              </a:rPr>
              <a:t> </a:t>
            </a:r>
            <a:r>
              <a:rPr sz="5050" b="1" spc="-345" dirty="0">
                <a:latin typeface="Verdana"/>
                <a:cs typeface="Verdana"/>
              </a:rPr>
              <a:t>Their </a:t>
            </a:r>
            <a:r>
              <a:rPr sz="5050" b="1" spc="-445" dirty="0">
                <a:latin typeface="Verdana"/>
                <a:cs typeface="Verdana"/>
              </a:rPr>
              <a:t>Role</a:t>
            </a:r>
            <a:r>
              <a:rPr sz="5050" b="1" spc="-545" dirty="0">
                <a:latin typeface="Verdana"/>
                <a:cs typeface="Verdana"/>
              </a:rPr>
              <a:t> </a:t>
            </a:r>
            <a:r>
              <a:rPr sz="5050" b="1" spc="-420" dirty="0">
                <a:latin typeface="Verdana"/>
                <a:cs typeface="Verdana"/>
              </a:rPr>
              <a:t>in</a:t>
            </a:r>
            <a:r>
              <a:rPr sz="5050" b="1" spc="-545" dirty="0">
                <a:latin typeface="Verdana"/>
                <a:cs typeface="Verdana"/>
              </a:rPr>
              <a:t> </a:t>
            </a:r>
            <a:r>
              <a:rPr sz="5050" b="1" spc="-285" dirty="0">
                <a:latin typeface="Verdana"/>
                <a:cs typeface="Verdana"/>
              </a:rPr>
              <a:t>Cloud</a:t>
            </a:r>
            <a:r>
              <a:rPr sz="5050" b="1" spc="-540" dirty="0">
                <a:latin typeface="Verdana"/>
                <a:cs typeface="Verdana"/>
              </a:rPr>
              <a:t> </a:t>
            </a:r>
            <a:r>
              <a:rPr sz="5050" b="1" spc="-270" dirty="0">
                <a:latin typeface="Verdana"/>
                <a:cs typeface="Verdana"/>
              </a:rPr>
              <a:t>Services</a:t>
            </a:r>
            <a:endParaRPr sz="5050" dirty="0">
              <a:latin typeface="Verdana"/>
              <a:cs typeface="Verdana"/>
            </a:endParaRPr>
          </a:p>
          <a:p>
            <a:pPr marL="10772140" marR="537845" algn="ctr">
              <a:lnSpc>
                <a:spcPct val="117900"/>
              </a:lnSpc>
            </a:pPr>
            <a:endParaRPr lang="en-US" sz="5050" dirty="0">
              <a:latin typeface="Verdana"/>
              <a:cs typeface="Verdana"/>
            </a:endParaRPr>
          </a:p>
          <a:p>
            <a:pPr marL="10772140" marR="537845" algn="ctr">
              <a:lnSpc>
                <a:spcPct val="117900"/>
              </a:lnSpc>
            </a:pPr>
            <a:r>
              <a:rPr sz="3500" spc="-60" dirty="0">
                <a:latin typeface="Verdana"/>
                <a:cs typeface="Verdana"/>
              </a:rPr>
              <a:t>Presented</a:t>
            </a:r>
            <a:r>
              <a:rPr sz="3500" spc="-235" dirty="0">
                <a:latin typeface="Verdana"/>
                <a:cs typeface="Verdana"/>
              </a:rPr>
              <a:t> </a:t>
            </a:r>
            <a:r>
              <a:rPr sz="3500" spc="-55" dirty="0">
                <a:latin typeface="Verdana"/>
                <a:cs typeface="Verdana"/>
              </a:rPr>
              <a:t>By </a:t>
            </a:r>
            <a:r>
              <a:rPr lang="en-US" sz="3500" spc="-55" dirty="0">
                <a:latin typeface="Verdana"/>
                <a:cs typeface="Verdana"/>
              </a:rPr>
              <a:t>   </a:t>
            </a:r>
            <a:r>
              <a:rPr lang="en-US" sz="3500" spc="-55" dirty="0" err="1">
                <a:latin typeface="Verdana"/>
                <a:cs typeface="Verdana"/>
              </a:rPr>
              <a:t>G.</a:t>
            </a:r>
            <a:r>
              <a:rPr sz="3500" spc="-30" dirty="0" err="1">
                <a:latin typeface="Verdana"/>
                <a:cs typeface="Verdana"/>
              </a:rPr>
              <a:t>K</a:t>
            </a:r>
            <a:r>
              <a:rPr lang="en-US" sz="3500" spc="-30" dirty="0" err="1">
                <a:latin typeface="Verdana"/>
                <a:cs typeface="Verdana"/>
              </a:rPr>
              <a:t>avinashree</a:t>
            </a:r>
            <a:r>
              <a:rPr sz="3500" spc="-30" dirty="0">
                <a:latin typeface="Verdana"/>
                <a:cs typeface="Verdana"/>
              </a:rPr>
              <a:t> </a:t>
            </a:r>
            <a:r>
              <a:rPr sz="3500" spc="-75" dirty="0">
                <a:latin typeface="Verdana"/>
                <a:cs typeface="Verdana"/>
              </a:rPr>
              <a:t>1925</a:t>
            </a:r>
            <a:r>
              <a:rPr lang="en-US" sz="3500" spc="-75" dirty="0">
                <a:latin typeface="Verdana"/>
                <a:cs typeface="Verdana"/>
              </a:rPr>
              <a:t>11391</a:t>
            </a: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290763" y="2088479"/>
            <a:ext cx="717359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345" dirty="0">
                <a:solidFill>
                  <a:srgbClr val="000000"/>
                </a:solidFill>
              </a:rPr>
              <a:t>Technical</a:t>
            </a:r>
            <a:r>
              <a:rPr sz="5000" spc="-520" dirty="0">
                <a:solidFill>
                  <a:srgbClr val="000000"/>
                </a:solidFill>
              </a:rPr>
              <a:t> </a:t>
            </a:r>
            <a:r>
              <a:rPr sz="5000" spc="-405" dirty="0">
                <a:solidFill>
                  <a:srgbClr val="000000"/>
                </a:solidFill>
              </a:rPr>
              <a:t>Presentation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9266" y="6328311"/>
            <a:ext cx="4028732" cy="39490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7693" y="1369332"/>
            <a:ext cx="5276602" cy="431219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704900" y="1028700"/>
            <a:ext cx="12148820" cy="0"/>
          </a:xfrm>
          <a:custGeom>
            <a:avLst/>
            <a:gdLst/>
            <a:ahLst/>
            <a:cxnLst/>
            <a:rect l="l" t="t" r="r" b="b"/>
            <a:pathLst>
              <a:path w="12148819">
                <a:moveTo>
                  <a:pt x="0" y="0"/>
                </a:moveTo>
                <a:lnTo>
                  <a:pt x="121485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197780" y="839787"/>
            <a:ext cx="1074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latin typeface="Verdana"/>
                <a:cs typeface="Verdana"/>
              </a:rPr>
              <a:t>Page</a:t>
            </a:r>
            <a:r>
              <a:rPr sz="2100" spc="-155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02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210" rIns="0" bIns="0" rtlCol="0">
            <a:spAutoFit/>
          </a:bodyPr>
          <a:lstStyle/>
          <a:p>
            <a:pPr marL="839469">
              <a:lnSpc>
                <a:spcPct val="100000"/>
              </a:lnSpc>
              <a:spcBef>
                <a:spcPts val="100"/>
              </a:spcBef>
            </a:pPr>
            <a:r>
              <a:rPr sz="5000" spc="-400" dirty="0"/>
              <a:t>Objective:</a:t>
            </a:r>
            <a:endParaRPr sz="5000"/>
          </a:p>
        </p:txBody>
      </p:sp>
      <p:sp>
        <p:nvSpPr>
          <p:cNvPr id="7" name="object 7"/>
          <p:cNvSpPr txBox="1"/>
          <p:nvPr/>
        </p:nvSpPr>
        <p:spPr>
          <a:xfrm>
            <a:off x="2396607" y="3134548"/>
            <a:ext cx="14359890" cy="3740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100"/>
              </a:lnSpc>
              <a:spcBef>
                <a:spcPts val="95"/>
              </a:spcBef>
            </a:pPr>
            <a:r>
              <a:rPr sz="3500" spc="150" dirty="0">
                <a:latin typeface="Trebuchet MS"/>
                <a:cs typeface="Trebuchet MS"/>
              </a:rPr>
              <a:t>The</a:t>
            </a:r>
            <a:r>
              <a:rPr sz="3500" spc="375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objective</a:t>
            </a:r>
            <a:r>
              <a:rPr sz="3500" spc="380" dirty="0">
                <a:latin typeface="Trebuchet MS"/>
                <a:cs typeface="Trebuchet MS"/>
              </a:rPr>
              <a:t> </a:t>
            </a:r>
            <a:r>
              <a:rPr sz="3500" spc="85" dirty="0">
                <a:latin typeface="Trebuchet MS"/>
                <a:cs typeface="Trebuchet MS"/>
              </a:rPr>
              <a:t>of</a:t>
            </a:r>
            <a:r>
              <a:rPr sz="3500" spc="375" dirty="0">
                <a:latin typeface="Trebuchet MS"/>
                <a:cs typeface="Trebuchet MS"/>
              </a:rPr>
              <a:t> </a:t>
            </a:r>
            <a:r>
              <a:rPr sz="3500" spc="70" dirty="0">
                <a:latin typeface="Trebuchet MS"/>
                <a:cs typeface="Trebuchet MS"/>
              </a:rPr>
              <a:t>this</a:t>
            </a:r>
            <a:r>
              <a:rPr sz="3500" spc="380" dirty="0">
                <a:latin typeface="Trebuchet MS"/>
                <a:cs typeface="Trebuchet MS"/>
              </a:rPr>
              <a:t> </a:t>
            </a:r>
            <a:r>
              <a:rPr sz="3500" spc="70" dirty="0">
                <a:latin typeface="Trebuchet MS"/>
                <a:cs typeface="Trebuchet MS"/>
              </a:rPr>
              <a:t>presentation</a:t>
            </a:r>
            <a:r>
              <a:rPr sz="3500" spc="375" dirty="0">
                <a:latin typeface="Trebuchet MS"/>
                <a:cs typeface="Trebuchet MS"/>
              </a:rPr>
              <a:t> </a:t>
            </a:r>
            <a:r>
              <a:rPr sz="3500" spc="114" dirty="0">
                <a:latin typeface="Trebuchet MS"/>
                <a:cs typeface="Trebuchet MS"/>
              </a:rPr>
              <a:t>is</a:t>
            </a:r>
            <a:r>
              <a:rPr sz="3500" spc="380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to</a:t>
            </a:r>
            <a:r>
              <a:rPr sz="3500" spc="375" dirty="0">
                <a:latin typeface="Trebuchet MS"/>
                <a:cs typeface="Trebuchet MS"/>
              </a:rPr>
              <a:t> </a:t>
            </a:r>
            <a:r>
              <a:rPr sz="3500" spc="125" dirty="0">
                <a:latin typeface="Trebuchet MS"/>
                <a:cs typeface="Trebuchet MS"/>
              </a:rPr>
              <a:t>understand</a:t>
            </a:r>
            <a:r>
              <a:rPr sz="3500" spc="380" dirty="0">
                <a:latin typeface="Trebuchet MS"/>
                <a:cs typeface="Trebuchet MS"/>
              </a:rPr>
              <a:t> </a:t>
            </a:r>
            <a:r>
              <a:rPr sz="3500" spc="55" dirty="0">
                <a:latin typeface="Trebuchet MS"/>
                <a:cs typeface="Trebuchet MS"/>
              </a:rPr>
              <a:t>the</a:t>
            </a:r>
            <a:r>
              <a:rPr sz="3500" spc="375" dirty="0">
                <a:latin typeface="Trebuchet MS"/>
                <a:cs typeface="Trebuchet MS"/>
              </a:rPr>
              <a:t> </a:t>
            </a:r>
            <a:r>
              <a:rPr sz="3500" spc="125" dirty="0">
                <a:latin typeface="Trebuchet MS"/>
                <a:cs typeface="Trebuchet MS"/>
              </a:rPr>
              <a:t>concept</a:t>
            </a:r>
            <a:r>
              <a:rPr sz="3500" spc="380" dirty="0">
                <a:latin typeface="Trebuchet MS"/>
                <a:cs typeface="Trebuchet MS"/>
              </a:rPr>
              <a:t> </a:t>
            </a:r>
            <a:r>
              <a:rPr sz="3500" spc="60" dirty="0">
                <a:latin typeface="Trebuchet MS"/>
                <a:cs typeface="Trebuchet MS"/>
              </a:rPr>
              <a:t>of </a:t>
            </a:r>
            <a:r>
              <a:rPr sz="3500" spc="100" dirty="0">
                <a:latin typeface="Trebuchet MS"/>
                <a:cs typeface="Trebuchet MS"/>
              </a:rPr>
              <a:t>Content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spc="65" dirty="0">
                <a:latin typeface="Trebuchet MS"/>
                <a:cs typeface="Trebuchet MS"/>
              </a:rPr>
              <a:t>Delivery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spc="150" dirty="0">
                <a:latin typeface="Trebuchet MS"/>
                <a:cs typeface="Trebuchet MS"/>
              </a:rPr>
              <a:t>Networks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spc="250" dirty="0">
                <a:latin typeface="Trebuchet MS"/>
                <a:cs typeface="Trebuchet MS"/>
              </a:rPr>
              <a:t>(CDNs)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spc="155" dirty="0">
                <a:latin typeface="Trebuchet MS"/>
                <a:cs typeface="Trebuchet MS"/>
              </a:rPr>
              <a:t>and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their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spc="80" dirty="0">
                <a:latin typeface="Trebuchet MS"/>
                <a:cs typeface="Trebuchet MS"/>
              </a:rPr>
              <a:t>importance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in</a:t>
            </a:r>
            <a:r>
              <a:rPr sz="3500" spc="195" dirty="0">
                <a:latin typeface="Trebuchet MS"/>
                <a:cs typeface="Trebuchet MS"/>
              </a:rPr>
              <a:t> </a:t>
            </a:r>
            <a:r>
              <a:rPr sz="3500" spc="110" dirty="0">
                <a:latin typeface="Trebuchet MS"/>
                <a:cs typeface="Trebuchet MS"/>
              </a:rPr>
              <a:t>modern </a:t>
            </a:r>
            <a:r>
              <a:rPr sz="3500" spc="100" dirty="0">
                <a:latin typeface="Trebuchet MS"/>
                <a:cs typeface="Trebuchet MS"/>
              </a:rPr>
              <a:t>cloud</a:t>
            </a:r>
            <a:r>
              <a:rPr sz="3500" spc="40" dirty="0">
                <a:latin typeface="Trebuchet MS"/>
                <a:cs typeface="Trebuchet MS"/>
              </a:rPr>
              <a:t>  </a:t>
            </a:r>
            <a:r>
              <a:rPr sz="3500" spc="65" dirty="0">
                <a:latin typeface="Trebuchet MS"/>
                <a:cs typeface="Trebuchet MS"/>
              </a:rPr>
              <a:t>computing.</a:t>
            </a:r>
            <a:r>
              <a:rPr sz="3500" spc="40" dirty="0">
                <a:latin typeface="Trebuchet MS"/>
                <a:cs typeface="Trebuchet MS"/>
              </a:rPr>
              <a:t>  </a:t>
            </a:r>
            <a:r>
              <a:rPr sz="3500" dirty="0">
                <a:latin typeface="Trebuchet MS"/>
                <a:cs typeface="Trebuchet MS"/>
              </a:rPr>
              <a:t>It</a:t>
            </a:r>
            <a:r>
              <a:rPr sz="3500" spc="40" dirty="0">
                <a:latin typeface="Trebuchet MS"/>
                <a:cs typeface="Trebuchet MS"/>
              </a:rPr>
              <a:t>  </a:t>
            </a:r>
            <a:r>
              <a:rPr sz="3500" spc="75" dirty="0">
                <a:latin typeface="Trebuchet MS"/>
                <a:cs typeface="Trebuchet MS"/>
              </a:rPr>
              <a:t>explains</a:t>
            </a:r>
            <a:r>
              <a:rPr sz="3500" spc="40" dirty="0">
                <a:latin typeface="Trebuchet MS"/>
                <a:cs typeface="Trebuchet MS"/>
              </a:rPr>
              <a:t>  </a:t>
            </a:r>
            <a:r>
              <a:rPr sz="3500" spc="170" dirty="0">
                <a:latin typeface="Trebuchet MS"/>
                <a:cs typeface="Trebuchet MS"/>
              </a:rPr>
              <a:t>how</a:t>
            </a:r>
            <a:r>
              <a:rPr sz="3500" spc="40" dirty="0">
                <a:latin typeface="Trebuchet MS"/>
                <a:cs typeface="Trebuchet MS"/>
              </a:rPr>
              <a:t>  </a:t>
            </a:r>
            <a:r>
              <a:rPr sz="3500" spc="390" dirty="0">
                <a:latin typeface="Trebuchet MS"/>
                <a:cs typeface="Trebuchet MS"/>
              </a:rPr>
              <a:t>CDN</a:t>
            </a:r>
            <a:r>
              <a:rPr sz="3500" spc="40" dirty="0">
                <a:latin typeface="Trebuchet MS"/>
                <a:cs typeface="Trebuchet MS"/>
              </a:rPr>
              <a:t>  </a:t>
            </a:r>
            <a:r>
              <a:rPr sz="3500" dirty="0">
                <a:latin typeface="Trebuchet MS"/>
                <a:cs typeface="Trebuchet MS"/>
              </a:rPr>
              <a:t>architecture</a:t>
            </a:r>
            <a:r>
              <a:rPr sz="3500" spc="45" dirty="0">
                <a:latin typeface="Trebuchet MS"/>
                <a:cs typeface="Trebuchet MS"/>
              </a:rPr>
              <a:t>  </a:t>
            </a:r>
            <a:r>
              <a:rPr sz="3500" spc="90" dirty="0">
                <a:latin typeface="Trebuchet MS"/>
                <a:cs typeface="Trebuchet MS"/>
              </a:rPr>
              <a:t>works,</a:t>
            </a:r>
            <a:r>
              <a:rPr sz="3500" spc="40" dirty="0">
                <a:latin typeface="Trebuchet MS"/>
                <a:cs typeface="Trebuchet MS"/>
              </a:rPr>
              <a:t>  </a:t>
            </a:r>
            <a:r>
              <a:rPr sz="3500" spc="145" dirty="0">
                <a:latin typeface="Trebuchet MS"/>
                <a:cs typeface="Trebuchet MS"/>
              </a:rPr>
              <a:t>why </a:t>
            </a:r>
            <a:r>
              <a:rPr sz="3500" spc="100" dirty="0">
                <a:latin typeface="Trebuchet MS"/>
                <a:cs typeface="Trebuchet MS"/>
              </a:rPr>
              <a:t>organizations</a:t>
            </a:r>
            <a:r>
              <a:rPr sz="3500" spc="280" dirty="0">
                <a:latin typeface="Trebuchet MS"/>
                <a:cs typeface="Trebuchet MS"/>
              </a:rPr>
              <a:t> </a:t>
            </a:r>
            <a:r>
              <a:rPr sz="3500" spc="204" dirty="0">
                <a:latin typeface="Trebuchet MS"/>
                <a:cs typeface="Trebuchet MS"/>
              </a:rPr>
              <a:t>use</a:t>
            </a:r>
            <a:r>
              <a:rPr sz="3500" spc="285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it</a:t>
            </a:r>
            <a:r>
              <a:rPr sz="3500" spc="285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to</a:t>
            </a:r>
            <a:r>
              <a:rPr sz="3500" spc="285" dirty="0">
                <a:latin typeface="Trebuchet MS"/>
                <a:cs typeface="Trebuchet MS"/>
              </a:rPr>
              <a:t> </a:t>
            </a:r>
            <a:r>
              <a:rPr sz="3500" spc="60" dirty="0">
                <a:latin typeface="Trebuchet MS"/>
                <a:cs typeface="Trebuchet MS"/>
              </a:rPr>
              <a:t>improve</a:t>
            </a:r>
            <a:r>
              <a:rPr sz="3500" spc="280" dirty="0">
                <a:latin typeface="Trebuchet MS"/>
                <a:cs typeface="Trebuchet MS"/>
              </a:rPr>
              <a:t> </a:t>
            </a:r>
            <a:r>
              <a:rPr sz="3500" spc="65" dirty="0">
                <a:latin typeface="Trebuchet MS"/>
                <a:cs typeface="Trebuchet MS"/>
              </a:rPr>
              <a:t>performance,</a:t>
            </a:r>
            <a:r>
              <a:rPr sz="3500" spc="285" dirty="0">
                <a:latin typeface="Trebuchet MS"/>
                <a:cs typeface="Trebuchet MS"/>
              </a:rPr>
              <a:t> </a:t>
            </a:r>
            <a:r>
              <a:rPr sz="3500" spc="155" dirty="0">
                <a:latin typeface="Trebuchet MS"/>
                <a:cs typeface="Trebuchet MS"/>
              </a:rPr>
              <a:t>and</a:t>
            </a:r>
            <a:r>
              <a:rPr sz="3500" spc="285" dirty="0">
                <a:latin typeface="Trebuchet MS"/>
                <a:cs typeface="Trebuchet MS"/>
              </a:rPr>
              <a:t> </a:t>
            </a:r>
            <a:r>
              <a:rPr sz="3500" spc="170" dirty="0">
                <a:latin typeface="Trebuchet MS"/>
                <a:cs typeface="Trebuchet MS"/>
              </a:rPr>
              <a:t>how</a:t>
            </a:r>
            <a:r>
              <a:rPr sz="3500" spc="285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it</a:t>
            </a:r>
            <a:r>
              <a:rPr sz="3500" spc="280" dirty="0">
                <a:latin typeface="Trebuchet MS"/>
                <a:cs typeface="Trebuchet MS"/>
              </a:rPr>
              <a:t> </a:t>
            </a:r>
            <a:r>
              <a:rPr sz="3500" spc="160" dirty="0">
                <a:latin typeface="Trebuchet MS"/>
                <a:cs typeface="Trebuchet MS"/>
              </a:rPr>
              <a:t>enhances </a:t>
            </a:r>
            <a:r>
              <a:rPr sz="3500" spc="55" dirty="0">
                <a:latin typeface="Trebuchet MS"/>
                <a:cs typeface="Trebuchet MS"/>
              </a:rPr>
              <a:t>the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114" dirty="0">
                <a:latin typeface="Trebuchet MS"/>
                <a:cs typeface="Trebuchet MS"/>
              </a:rPr>
              <a:t>speed,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dirty="0">
                <a:latin typeface="Trebuchet MS"/>
                <a:cs typeface="Trebuchet MS"/>
              </a:rPr>
              <a:t>reliability,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155" dirty="0">
                <a:latin typeface="Trebuchet MS"/>
                <a:cs typeface="Trebuchet MS"/>
              </a:rPr>
              <a:t>and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85" dirty="0">
                <a:latin typeface="Trebuchet MS"/>
                <a:cs typeface="Trebuchet MS"/>
              </a:rPr>
              <a:t>security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85" dirty="0">
                <a:latin typeface="Trebuchet MS"/>
                <a:cs typeface="Trebuchet MS"/>
              </a:rPr>
              <a:t>of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160" dirty="0">
                <a:latin typeface="Trebuchet MS"/>
                <a:cs typeface="Trebuchet MS"/>
              </a:rPr>
              <a:t>web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65" dirty="0">
                <a:latin typeface="Trebuchet MS"/>
                <a:cs typeface="Trebuchet MS"/>
              </a:rPr>
              <a:t>applications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110" dirty="0">
                <a:latin typeface="Trebuchet MS"/>
                <a:cs typeface="Trebuchet MS"/>
              </a:rPr>
              <a:t>through</a:t>
            </a:r>
            <a:r>
              <a:rPr sz="3500" spc="620" dirty="0">
                <a:latin typeface="Trebuchet MS"/>
                <a:cs typeface="Trebuchet MS"/>
              </a:rPr>
              <a:t> </a:t>
            </a:r>
            <a:r>
              <a:rPr sz="3500" spc="75" dirty="0">
                <a:latin typeface="Trebuchet MS"/>
                <a:cs typeface="Trebuchet MS"/>
              </a:rPr>
              <a:t>a </a:t>
            </a:r>
            <a:r>
              <a:rPr sz="3500" spc="50" dirty="0">
                <a:latin typeface="Trebuchet MS"/>
                <a:cs typeface="Trebuchet MS"/>
              </a:rPr>
              <a:t>real-</a:t>
            </a:r>
            <a:r>
              <a:rPr sz="3500" spc="65" dirty="0">
                <a:latin typeface="Trebuchet MS"/>
                <a:cs typeface="Trebuchet MS"/>
              </a:rPr>
              <a:t>world</a:t>
            </a:r>
            <a:r>
              <a:rPr sz="3500" spc="-60" dirty="0">
                <a:latin typeface="Trebuchet MS"/>
                <a:cs typeface="Trebuchet MS"/>
              </a:rPr>
              <a:t> </a:t>
            </a:r>
            <a:r>
              <a:rPr sz="3500" spc="-10" dirty="0">
                <a:latin typeface="Trebuchet MS"/>
                <a:cs typeface="Trebuchet MS"/>
              </a:rPr>
              <a:t>example.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44294" y="850582"/>
            <a:ext cx="12148820" cy="0"/>
          </a:xfrm>
          <a:custGeom>
            <a:avLst/>
            <a:gdLst/>
            <a:ahLst/>
            <a:cxnLst/>
            <a:rect l="l" t="t" r="r" b="b"/>
            <a:pathLst>
              <a:path w="12148819">
                <a:moveTo>
                  <a:pt x="0" y="0"/>
                </a:moveTo>
                <a:lnTo>
                  <a:pt x="121485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2994" y="2084344"/>
            <a:ext cx="5217618" cy="46919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59266" y="6328311"/>
            <a:ext cx="4028732" cy="39490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189594" y="661669"/>
            <a:ext cx="10826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latin typeface="Verdana"/>
                <a:cs typeface="Verdana"/>
              </a:rPr>
              <a:t>Page</a:t>
            </a:r>
            <a:r>
              <a:rPr sz="2100" spc="-155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03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73505" y="1257485"/>
            <a:ext cx="104476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25" dirty="0"/>
              <a:t>Definition</a:t>
            </a:r>
            <a:r>
              <a:rPr sz="4200" spc="-445" dirty="0"/>
              <a:t> </a:t>
            </a:r>
            <a:r>
              <a:rPr sz="4200" spc="-800" dirty="0"/>
              <a:t>&amp;</a:t>
            </a:r>
            <a:r>
              <a:rPr sz="4200" spc="-445" dirty="0"/>
              <a:t> </a:t>
            </a:r>
            <a:r>
              <a:rPr sz="4200" spc="-235" dirty="0"/>
              <a:t>Core</a:t>
            </a:r>
            <a:r>
              <a:rPr sz="4200" spc="-440" dirty="0"/>
              <a:t> </a:t>
            </a:r>
            <a:r>
              <a:rPr sz="4200" spc="-280" dirty="0"/>
              <a:t>Technical</a:t>
            </a:r>
            <a:r>
              <a:rPr sz="4200" spc="-445" dirty="0"/>
              <a:t> </a:t>
            </a:r>
            <a:r>
              <a:rPr sz="4200" spc="-365" dirty="0"/>
              <a:t>Explanation:</a:t>
            </a:r>
            <a:endParaRPr sz="42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124" y="6226901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124" y="6760301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124" y="7293701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124" y="7827101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124" y="8360501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1124" y="8893901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16000" y="2214474"/>
            <a:ext cx="15041880" cy="693991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18440" algn="just">
              <a:lnSpc>
                <a:spcPct val="100000"/>
              </a:lnSpc>
              <a:spcBef>
                <a:spcPts val="855"/>
              </a:spcBef>
            </a:pPr>
            <a:r>
              <a:rPr sz="3500" spc="-110" dirty="0">
                <a:latin typeface="Verdana"/>
                <a:cs typeface="Verdana"/>
              </a:rPr>
              <a:t>What</a:t>
            </a:r>
            <a:r>
              <a:rPr sz="3500" spc="-275" dirty="0">
                <a:latin typeface="Verdana"/>
                <a:cs typeface="Verdana"/>
              </a:rPr>
              <a:t> </a:t>
            </a:r>
            <a:r>
              <a:rPr sz="3500" spc="-40" dirty="0">
                <a:latin typeface="Verdana"/>
                <a:cs typeface="Verdana"/>
              </a:rPr>
              <a:t>is</a:t>
            </a:r>
            <a:r>
              <a:rPr sz="3500" spc="-275" dirty="0">
                <a:latin typeface="Verdana"/>
                <a:cs typeface="Verdana"/>
              </a:rPr>
              <a:t> </a:t>
            </a:r>
            <a:r>
              <a:rPr sz="3500" spc="-130" dirty="0">
                <a:latin typeface="Verdana"/>
                <a:cs typeface="Verdana"/>
              </a:rPr>
              <a:t>a</a:t>
            </a:r>
            <a:r>
              <a:rPr sz="3500" spc="-275" dirty="0">
                <a:latin typeface="Verdana"/>
                <a:cs typeface="Verdana"/>
              </a:rPr>
              <a:t> </a:t>
            </a:r>
            <a:r>
              <a:rPr sz="3500" spc="-65" dirty="0">
                <a:latin typeface="Verdana"/>
                <a:cs typeface="Verdana"/>
              </a:rPr>
              <a:t>Content</a:t>
            </a:r>
            <a:r>
              <a:rPr sz="3500" spc="-270" dirty="0">
                <a:latin typeface="Verdana"/>
                <a:cs typeface="Verdana"/>
              </a:rPr>
              <a:t> </a:t>
            </a:r>
            <a:r>
              <a:rPr sz="3500" spc="-114" dirty="0">
                <a:latin typeface="Verdana"/>
                <a:cs typeface="Verdana"/>
              </a:rPr>
              <a:t>Delivery</a:t>
            </a:r>
            <a:r>
              <a:rPr sz="3500" spc="-275" dirty="0">
                <a:latin typeface="Verdana"/>
                <a:cs typeface="Verdana"/>
              </a:rPr>
              <a:t> </a:t>
            </a:r>
            <a:r>
              <a:rPr sz="3500" spc="-80" dirty="0">
                <a:latin typeface="Verdana"/>
                <a:cs typeface="Verdana"/>
              </a:rPr>
              <a:t>Network</a:t>
            </a:r>
            <a:r>
              <a:rPr sz="3500" spc="-275" dirty="0">
                <a:latin typeface="Verdana"/>
                <a:cs typeface="Verdana"/>
              </a:rPr>
              <a:t> </a:t>
            </a:r>
            <a:r>
              <a:rPr sz="3500" spc="-10" dirty="0">
                <a:latin typeface="Verdana"/>
                <a:cs typeface="Verdana"/>
              </a:rPr>
              <a:t>(CDN)?</a:t>
            </a:r>
            <a:endParaRPr sz="3500">
              <a:latin typeface="Verdana"/>
              <a:cs typeface="Verdana"/>
            </a:endParaRPr>
          </a:p>
          <a:p>
            <a:pPr marL="218440" marR="5080" algn="just">
              <a:lnSpc>
                <a:spcPct val="114599"/>
              </a:lnSpc>
              <a:spcBef>
                <a:spcPts val="125"/>
              </a:spcBef>
            </a:pPr>
            <a:r>
              <a:rPr sz="3000" spc="245" dirty="0">
                <a:latin typeface="Trebuchet MS"/>
                <a:cs typeface="Trebuchet MS"/>
              </a:rPr>
              <a:t>A</a:t>
            </a:r>
            <a:r>
              <a:rPr sz="3000" spc="730" dirty="0">
                <a:latin typeface="Trebuchet MS"/>
                <a:cs typeface="Trebuchet MS"/>
              </a:rPr>
              <a:t> </a:t>
            </a:r>
            <a:r>
              <a:rPr sz="3000" spc="85" dirty="0">
                <a:latin typeface="Trebuchet MS"/>
                <a:cs typeface="Trebuchet MS"/>
              </a:rPr>
              <a:t>Content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Delivery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95" dirty="0">
                <a:latin typeface="Trebuchet MS"/>
                <a:cs typeface="Trebuchet MS"/>
              </a:rPr>
              <a:t>Network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190" dirty="0">
                <a:latin typeface="Trebuchet MS"/>
                <a:cs typeface="Trebuchet MS"/>
              </a:rPr>
              <a:t>(CDN)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100" dirty="0">
                <a:latin typeface="Trebuchet MS"/>
                <a:cs typeface="Trebuchet MS"/>
              </a:rPr>
              <a:t>is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110" dirty="0">
                <a:latin typeface="Trebuchet MS"/>
                <a:cs typeface="Trebuchet MS"/>
              </a:rPr>
              <a:t>a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80" dirty="0">
                <a:latin typeface="Trebuchet MS"/>
                <a:cs typeface="Trebuchet MS"/>
              </a:rPr>
              <a:t>geographically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45" dirty="0">
                <a:latin typeface="Trebuchet MS"/>
                <a:cs typeface="Trebuchet MS"/>
              </a:rPr>
              <a:t>distributed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network</a:t>
            </a:r>
            <a:r>
              <a:rPr sz="3000" spc="735" dirty="0">
                <a:latin typeface="Trebuchet MS"/>
                <a:cs typeface="Trebuchet MS"/>
              </a:rPr>
              <a:t> </a:t>
            </a:r>
            <a:r>
              <a:rPr sz="3000" spc="35" dirty="0">
                <a:latin typeface="Trebuchet MS"/>
                <a:cs typeface="Trebuchet MS"/>
              </a:rPr>
              <a:t>of </a:t>
            </a:r>
            <a:r>
              <a:rPr sz="3000" spc="140" dirty="0">
                <a:latin typeface="Trebuchet MS"/>
                <a:cs typeface="Trebuchet MS"/>
              </a:rPr>
              <a:t>servers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that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120" dirty="0">
                <a:latin typeface="Trebuchet MS"/>
                <a:cs typeface="Trebuchet MS"/>
              </a:rPr>
              <a:t>stores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140" dirty="0">
                <a:latin typeface="Trebuchet MS"/>
                <a:cs typeface="Trebuchet MS"/>
              </a:rPr>
              <a:t>cached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125" dirty="0">
                <a:latin typeface="Trebuchet MS"/>
                <a:cs typeface="Trebuchet MS"/>
              </a:rPr>
              <a:t>copies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of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web</a:t>
            </a:r>
            <a:r>
              <a:rPr sz="3000" spc="550" dirty="0">
                <a:latin typeface="Trebuchet MS"/>
                <a:cs typeface="Trebuchet MS"/>
              </a:rPr>
              <a:t> </a:t>
            </a:r>
            <a:r>
              <a:rPr sz="3000" spc="55" dirty="0">
                <a:latin typeface="Trebuchet MS"/>
                <a:cs typeface="Trebuchet MS"/>
              </a:rPr>
              <a:t>content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and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delivers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them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from</a:t>
            </a:r>
            <a:r>
              <a:rPr sz="3000" spc="545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the </a:t>
            </a:r>
            <a:r>
              <a:rPr sz="3000" spc="105" dirty="0">
                <a:latin typeface="Trebuchet MS"/>
                <a:cs typeface="Trebuchet MS"/>
              </a:rPr>
              <a:t>server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spc="114" dirty="0">
                <a:latin typeface="Trebuchet MS"/>
                <a:cs typeface="Trebuchet MS"/>
              </a:rPr>
              <a:t>closest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to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the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user.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spc="120" dirty="0">
                <a:latin typeface="Trebuchet MS"/>
                <a:cs typeface="Trebuchet MS"/>
              </a:rPr>
              <a:t>This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spc="45" dirty="0">
                <a:latin typeface="Trebuchet MS"/>
                <a:cs typeface="Trebuchet MS"/>
              </a:rPr>
              <a:t>minimizes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the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distance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spc="70" dirty="0">
                <a:latin typeface="Trebuchet MS"/>
                <a:cs typeface="Trebuchet MS"/>
              </a:rPr>
              <a:t>data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travels,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spc="45" dirty="0">
                <a:latin typeface="Trebuchet MS"/>
                <a:cs typeface="Trebuchet MS"/>
              </a:rPr>
              <a:t>resulting</a:t>
            </a:r>
            <a:r>
              <a:rPr sz="3000" spc="39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in </a:t>
            </a:r>
            <a:r>
              <a:rPr sz="3000" dirty="0">
                <a:latin typeface="Trebuchet MS"/>
                <a:cs typeface="Trebuchet MS"/>
              </a:rPr>
              <a:t>faster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160" dirty="0">
                <a:latin typeface="Trebuchet MS"/>
                <a:cs typeface="Trebuchet MS"/>
              </a:rPr>
              <a:t>page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loading,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lower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latency,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and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spc="110" dirty="0">
                <a:latin typeface="Trebuchet MS"/>
                <a:cs typeface="Trebuchet MS"/>
              </a:rPr>
              <a:t>a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105" dirty="0">
                <a:latin typeface="Trebuchet MS"/>
                <a:cs typeface="Trebuchet MS"/>
              </a:rPr>
              <a:t>smoother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125" dirty="0">
                <a:latin typeface="Trebuchet MS"/>
                <a:cs typeface="Trebuchet MS"/>
              </a:rPr>
              <a:t>user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experience.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410"/>
              </a:spcBef>
            </a:pPr>
            <a:r>
              <a:rPr sz="3500" spc="-50" dirty="0">
                <a:latin typeface="Verdana"/>
                <a:cs typeface="Verdana"/>
              </a:rPr>
              <a:t>Core</a:t>
            </a:r>
            <a:r>
              <a:rPr sz="3500" spc="-275" dirty="0">
                <a:latin typeface="Verdana"/>
                <a:cs typeface="Verdana"/>
              </a:rPr>
              <a:t> </a:t>
            </a:r>
            <a:r>
              <a:rPr sz="3500" spc="-10" dirty="0">
                <a:latin typeface="Verdana"/>
                <a:cs typeface="Verdana"/>
              </a:rPr>
              <a:t>Functions</a:t>
            </a:r>
            <a:endParaRPr sz="3500">
              <a:latin typeface="Verdana"/>
              <a:cs typeface="Verdana"/>
            </a:endParaRPr>
          </a:p>
          <a:p>
            <a:pPr marL="659765" marR="5064760">
              <a:lnSpc>
                <a:spcPct val="116700"/>
              </a:lnSpc>
              <a:spcBef>
                <a:spcPts val="50"/>
              </a:spcBef>
            </a:pPr>
            <a:r>
              <a:rPr sz="3000" spc="145" dirty="0">
                <a:latin typeface="Trebuchet MS"/>
                <a:cs typeface="Trebuchet MS"/>
              </a:rPr>
              <a:t>Stores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frequently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190" dirty="0">
                <a:latin typeface="Trebuchet MS"/>
                <a:cs typeface="Trebuchet MS"/>
              </a:rPr>
              <a:t>accessed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content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95" dirty="0">
                <a:latin typeface="Trebuchet MS"/>
                <a:cs typeface="Trebuchet MS"/>
              </a:rPr>
              <a:t>closer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to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users. </a:t>
            </a:r>
            <a:r>
              <a:rPr sz="3000" spc="80" dirty="0">
                <a:latin typeface="Trebuchet MS"/>
                <a:cs typeface="Trebuchet MS"/>
              </a:rPr>
              <a:t>Delivers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content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95" dirty="0">
                <a:latin typeface="Trebuchet MS"/>
                <a:cs typeface="Trebuchet MS"/>
              </a:rPr>
              <a:t>through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the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80" dirty="0">
                <a:latin typeface="Trebuchet MS"/>
                <a:cs typeface="Trebuchet MS"/>
              </a:rPr>
              <a:t>nearest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170" dirty="0">
                <a:latin typeface="Trebuchet MS"/>
                <a:cs typeface="Trebuchet MS"/>
              </a:rPr>
              <a:t>edge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server.</a:t>
            </a:r>
            <a:endParaRPr sz="3000">
              <a:latin typeface="Trebuchet MS"/>
              <a:cs typeface="Trebuchet MS"/>
            </a:endParaRPr>
          </a:p>
          <a:p>
            <a:pPr marL="659765" marR="6659880">
              <a:lnSpc>
                <a:spcPts val="4200"/>
              </a:lnSpc>
              <a:spcBef>
                <a:spcPts val="240"/>
              </a:spcBef>
            </a:pPr>
            <a:r>
              <a:rPr sz="3000" spc="160" dirty="0">
                <a:latin typeface="Trebuchet MS"/>
                <a:cs typeface="Trebuchet MS"/>
              </a:rPr>
              <a:t>Reduces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the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80" dirty="0">
                <a:latin typeface="Trebuchet MS"/>
                <a:cs typeface="Trebuchet MS"/>
              </a:rPr>
              <a:t>workload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135" dirty="0">
                <a:latin typeface="Trebuchet MS"/>
                <a:cs typeface="Trebuchet MS"/>
              </a:rPr>
              <a:t>on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the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origin</a:t>
            </a:r>
            <a:r>
              <a:rPr sz="3000" spc="-10" dirty="0">
                <a:latin typeface="Trebuchet MS"/>
                <a:cs typeface="Trebuchet MS"/>
              </a:rPr>
              <a:t> server. </a:t>
            </a:r>
            <a:r>
              <a:rPr sz="3000" spc="100" dirty="0">
                <a:latin typeface="Trebuchet MS"/>
                <a:cs typeface="Trebuchet MS"/>
              </a:rPr>
              <a:t>Improves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80" dirty="0">
                <a:latin typeface="Trebuchet MS"/>
                <a:cs typeface="Trebuchet MS"/>
              </a:rPr>
              <a:t>website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175" dirty="0">
                <a:latin typeface="Trebuchet MS"/>
                <a:cs typeface="Trebuchet MS"/>
              </a:rPr>
              <a:t>speed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135" dirty="0">
                <a:latin typeface="Trebuchet MS"/>
                <a:cs typeface="Trebuchet MS"/>
              </a:rPr>
              <a:t>and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reliability.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360"/>
              </a:spcBef>
            </a:pPr>
            <a:r>
              <a:rPr sz="3000" spc="125" dirty="0">
                <a:latin typeface="Trebuchet MS"/>
                <a:cs typeface="Trebuchet MS"/>
              </a:rPr>
              <a:t>Balances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65" dirty="0">
                <a:latin typeface="Trebuchet MS"/>
                <a:cs typeface="Trebuchet MS"/>
              </a:rPr>
              <a:t>network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traffic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efficiently.</a:t>
            </a:r>
            <a:endParaRPr sz="3000">
              <a:latin typeface="Trebuchet MS"/>
              <a:cs typeface="Trebuchet MS"/>
            </a:endParaRPr>
          </a:p>
          <a:p>
            <a:pPr marL="659765">
              <a:lnSpc>
                <a:spcPct val="100000"/>
              </a:lnSpc>
              <a:spcBef>
                <a:spcPts val="600"/>
              </a:spcBef>
            </a:pPr>
            <a:r>
              <a:rPr sz="3000" spc="155" dirty="0">
                <a:latin typeface="Trebuchet MS"/>
                <a:cs typeface="Trebuchet MS"/>
              </a:rPr>
              <a:t>Enhances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availability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during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110" dirty="0">
                <a:latin typeface="Trebuchet MS"/>
                <a:cs typeface="Trebuchet MS"/>
              </a:rPr>
              <a:t>periods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of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105" dirty="0">
                <a:latin typeface="Trebuchet MS"/>
                <a:cs typeface="Trebuchet MS"/>
              </a:rPr>
              <a:t>high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demand.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4836" y="0"/>
            <a:ext cx="4968449" cy="42254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45102"/>
            <a:ext cx="16439515" cy="10032365"/>
            <a:chOff x="0" y="245102"/>
            <a:chExt cx="16439515" cy="100323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28311"/>
              <a:ext cx="4028631" cy="39490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8588" y="245102"/>
              <a:ext cx="14630399" cy="97726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9266" y="6328311"/>
            <a:ext cx="4028732" cy="39490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179460"/>
            <a:ext cx="4028631" cy="40978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186915" y="839787"/>
            <a:ext cx="10852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latin typeface="Verdana"/>
                <a:cs typeface="Verdana"/>
              </a:rPr>
              <a:t>Page</a:t>
            </a:r>
            <a:r>
              <a:rPr sz="2100" spc="-155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04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22663" y="504602"/>
            <a:ext cx="52158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405" dirty="0"/>
              <a:t>Industry</a:t>
            </a:r>
            <a:r>
              <a:rPr sz="4200" spc="-445" dirty="0"/>
              <a:t> </a:t>
            </a:r>
            <a:r>
              <a:rPr sz="4200" spc="-345" dirty="0"/>
              <a:t>Relevance:</a:t>
            </a:r>
            <a:endParaRPr sz="42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2869" y="4607835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2869" y="5131710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2869" y="5655585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17744" y="1503143"/>
            <a:ext cx="17583150" cy="77882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3500" b="1" spc="-330" dirty="0">
                <a:latin typeface="Verdana"/>
                <a:cs typeface="Verdana"/>
              </a:rPr>
              <a:t>Why</a:t>
            </a:r>
            <a:r>
              <a:rPr sz="3500" b="1" spc="-375" dirty="0">
                <a:latin typeface="Verdana"/>
                <a:cs typeface="Verdana"/>
              </a:rPr>
              <a:t> </a:t>
            </a:r>
            <a:r>
              <a:rPr sz="3500" b="1" spc="-310" dirty="0">
                <a:latin typeface="Verdana"/>
                <a:cs typeface="Verdana"/>
              </a:rPr>
              <a:t>are</a:t>
            </a:r>
            <a:r>
              <a:rPr sz="3500" b="1" spc="-370" dirty="0">
                <a:latin typeface="Verdana"/>
                <a:cs typeface="Verdana"/>
              </a:rPr>
              <a:t> </a:t>
            </a:r>
            <a:r>
              <a:rPr sz="3500" b="1" spc="-220" dirty="0">
                <a:latin typeface="Verdana"/>
                <a:cs typeface="Verdana"/>
              </a:rPr>
              <a:t>CDNs</a:t>
            </a:r>
            <a:r>
              <a:rPr sz="3500" b="1" spc="-370" dirty="0">
                <a:latin typeface="Verdana"/>
                <a:cs typeface="Verdana"/>
              </a:rPr>
              <a:t> </a:t>
            </a:r>
            <a:r>
              <a:rPr sz="3500" b="1" spc="-360" dirty="0">
                <a:latin typeface="Verdana"/>
                <a:cs typeface="Verdana"/>
              </a:rPr>
              <a:t>Important?</a:t>
            </a:r>
            <a:endParaRPr sz="3500">
              <a:latin typeface="Verdana"/>
              <a:cs typeface="Verdana"/>
            </a:endParaRPr>
          </a:p>
          <a:p>
            <a:pPr marL="12700" marR="5080" algn="just">
              <a:lnSpc>
                <a:spcPct val="114599"/>
              </a:lnSpc>
              <a:spcBef>
                <a:spcPts val="50"/>
              </a:spcBef>
            </a:pPr>
            <a:r>
              <a:rPr sz="3000" spc="295" dirty="0">
                <a:latin typeface="Trebuchet MS"/>
                <a:cs typeface="Trebuchet MS"/>
              </a:rPr>
              <a:t>As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110" dirty="0">
                <a:latin typeface="Trebuchet MS"/>
                <a:cs typeface="Trebuchet MS"/>
              </a:rPr>
              <a:t>websites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and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85" dirty="0">
                <a:latin typeface="Trebuchet MS"/>
                <a:cs typeface="Trebuchet MS"/>
              </a:rPr>
              <a:t>cloud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55" dirty="0">
                <a:latin typeface="Trebuchet MS"/>
                <a:cs typeface="Trebuchet MS"/>
              </a:rPr>
              <a:t>applications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serve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170" dirty="0">
                <a:latin typeface="Trebuchet MS"/>
                <a:cs typeface="Trebuchet MS"/>
              </a:rPr>
              <a:t>users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175" dirty="0">
                <a:latin typeface="Trebuchet MS"/>
                <a:cs typeface="Trebuchet MS"/>
              </a:rPr>
              <a:t>across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different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65" dirty="0">
                <a:latin typeface="Trebuchet MS"/>
                <a:cs typeface="Trebuchet MS"/>
              </a:rPr>
              <a:t>regions,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fast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and</a:t>
            </a:r>
            <a:r>
              <a:rPr sz="3000" spc="-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reliable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45" dirty="0">
                <a:latin typeface="Trebuchet MS"/>
                <a:cs typeface="Trebuchet MS"/>
              </a:rPr>
              <a:t>content </a:t>
            </a:r>
            <a:r>
              <a:rPr sz="3000" dirty="0">
                <a:latin typeface="Trebuchet MS"/>
                <a:cs typeface="Trebuchet MS"/>
              </a:rPr>
              <a:t>delivery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spc="160" dirty="0">
                <a:latin typeface="Trebuchet MS"/>
                <a:cs typeface="Trebuchet MS"/>
              </a:rPr>
              <a:t>becomes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essential.</a:t>
            </a:r>
            <a:r>
              <a:rPr sz="3000" spc="400" dirty="0">
                <a:latin typeface="Trebuchet MS"/>
                <a:cs typeface="Trebuchet MS"/>
              </a:rPr>
              <a:t> </a:t>
            </a:r>
            <a:r>
              <a:rPr sz="3000" spc="340" dirty="0">
                <a:latin typeface="Trebuchet MS"/>
                <a:cs typeface="Trebuchet MS"/>
              </a:rPr>
              <a:t>CDNs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spc="45" dirty="0">
                <a:latin typeface="Trebuchet MS"/>
                <a:cs typeface="Trebuchet MS"/>
              </a:rPr>
              <a:t>improve</a:t>
            </a:r>
            <a:r>
              <a:rPr sz="3000" spc="400" dirty="0">
                <a:latin typeface="Trebuchet MS"/>
                <a:cs typeface="Trebuchet MS"/>
              </a:rPr>
              <a:t> </a:t>
            </a:r>
            <a:r>
              <a:rPr sz="3000" spc="80" dirty="0">
                <a:latin typeface="Trebuchet MS"/>
                <a:cs typeface="Trebuchet MS"/>
              </a:rPr>
              <a:t>performance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spc="155" dirty="0">
                <a:latin typeface="Trebuchet MS"/>
                <a:cs typeface="Trebuchet MS"/>
              </a:rPr>
              <a:t>by</a:t>
            </a:r>
            <a:r>
              <a:rPr sz="3000" spc="40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delivering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spc="55" dirty="0">
                <a:latin typeface="Trebuchet MS"/>
                <a:cs typeface="Trebuchet MS"/>
              </a:rPr>
              <a:t>content</a:t>
            </a:r>
            <a:r>
              <a:rPr sz="3000" spc="40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from</a:t>
            </a:r>
            <a:r>
              <a:rPr sz="3000" spc="39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the</a:t>
            </a:r>
            <a:r>
              <a:rPr sz="3000" spc="400" dirty="0">
                <a:latin typeface="Trebuchet MS"/>
                <a:cs typeface="Trebuchet MS"/>
              </a:rPr>
              <a:t> </a:t>
            </a:r>
            <a:r>
              <a:rPr sz="3000" spc="70" dirty="0">
                <a:latin typeface="Trebuchet MS"/>
                <a:cs typeface="Trebuchet MS"/>
              </a:rPr>
              <a:t>nearest </a:t>
            </a:r>
            <a:r>
              <a:rPr sz="3000" spc="170" dirty="0">
                <a:latin typeface="Trebuchet MS"/>
                <a:cs typeface="Trebuchet MS"/>
              </a:rPr>
              <a:t>edge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105" dirty="0">
                <a:latin typeface="Trebuchet MS"/>
                <a:cs typeface="Trebuchet MS"/>
              </a:rPr>
              <a:t>server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80" dirty="0">
                <a:latin typeface="Trebuchet MS"/>
                <a:cs typeface="Trebuchet MS"/>
              </a:rPr>
              <a:t>instead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of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the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central</a:t>
            </a:r>
            <a:r>
              <a:rPr sz="3000" spc="-10" dirty="0">
                <a:latin typeface="Trebuchet MS"/>
                <a:cs typeface="Trebuchet MS"/>
              </a:rPr>
              <a:t> server.</a:t>
            </a:r>
            <a:endParaRPr sz="30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3500" b="1" spc="-254" dirty="0">
                <a:latin typeface="Verdana"/>
                <a:cs typeface="Verdana"/>
              </a:rPr>
              <a:t>Benefits</a:t>
            </a:r>
            <a:r>
              <a:rPr sz="3500" b="1" spc="-365" dirty="0">
                <a:latin typeface="Verdana"/>
                <a:cs typeface="Verdana"/>
              </a:rPr>
              <a:t> </a:t>
            </a:r>
            <a:r>
              <a:rPr sz="3500" b="1" spc="-240" dirty="0">
                <a:latin typeface="Verdana"/>
                <a:cs typeface="Verdana"/>
              </a:rPr>
              <a:t>for</a:t>
            </a:r>
            <a:r>
              <a:rPr sz="3500" b="1" spc="-365" dirty="0">
                <a:latin typeface="Verdana"/>
                <a:cs typeface="Verdana"/>
              </a:rPr>
              <a:t> </a:t>
            </a:r>
            <a:r>
              <a:rPr sz="3500" b="1" spc="-280" dirty="0">
                <a:latin typeface="Verdana"/>
                <a:cs typeface="Verdana"/>
              </a:rPr>
              <a:t>Organizations</a:t>
            </a:r>
            <a:endParaRPr sz="3500">
              <a:latin typeface="Verdana"/>
              <a:cs typeface="Verdana"/>
            </a:endParaRPr>
          </a:p>
          <a:p>
            <a:pPr marL="659765" marR="12240260">
              <a:lnSpc>
                <a:spcPct val="114599"/>
              </a:lnSpc>
              <a:spcBef>
                <a:spcPts val="50"/>
              </a:spcBef>
            </a:pPr>
            <a:r>
              <a:rPr sz="3000" spc="90" dirty="0">
                <a:latin typeface="Trebuchet MS"/>
                <a:cs typeface="Trebuchet MS"/>
              </a:rPr>
              <a:t>Faster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80" dirty="0">
                <a:latin typeface="Trebuchet MS"/>
                <a:cs typeface="Trebuchet MS"/>
              </a:rPr>
              <a:t>website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loading. </a:t>
            </a:r>
            <a:r>
              <a:rPr sz="3000" spc="135" dirty="0">
                <a:latin typeface="Trebuchet MS"/>
                <a:cs typeface="Trebuchet MS"/>
              </a:rPr>
              <a:t>Reduced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60" dirty="0">
                <a:latin typeface="Trebuchet MS"/>
                <a:cs typeface="Trebuchet MS"/>
              </a:rPr>
              <a:t>network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latency. </a:t>
            </a:r>
            <a:r>
              <a:rPr sz="3000" spc="85" dirty="0">
                <a:latin typeface="Trebuchet MS"/>
                <a:cs typeface="Trebuchet MS"/>
              </a:rPr>
              <a:t>Lower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bandwidth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costs.</a:t>
            </a:r>
            <a:endParaRPr sz="3000">
              <a:latin typeface="Trebuchet MS"/>
              <a:cs typeface="Trebuchet MS"/>
            </a:endParaRPr>
          </a:p>
          <a:p>
            <a:pPr marL="659765" marR="10480675">
              <a:lnSpc>
                <a:spcPct val="114599"/>
              </a:lnSpc>
            </a:pPr>
            <a:r>
              <a:rPr sz="3000" dirty="0">
                <a:latin typeface="Trebuchet MS"/>
                <a:cs typeface="Trebuchet MS"/>
              </a:rPr>
              <a:t>Better</a:t>
            </a:r>
            <a:r>
              <a:rPr sz="3000" spc="6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scalability</a:t>
            </a:r>
            <a:r>
              <a:rPr sz="3000" spc="65" dirty="0">
                <a:latin typeface="Trebuchet MS"/>
                <a:cs typeface="Trebuchet MS"/>
              </a:rPr>
              <a:t> </a:t>
            </a:r>
            <a:r>
              <a:rPr sz="3000" spc="85" dirty="0">
                <a:latin typeface="Trebuchet MS"/>
                <a:cs typeface="Trebuchet MS"/>
              </a:rPr>
              <a:t>during</a:t>
            </a:r>
            <a:r>
              <a:rPr sz="3000" spc="60" dirty="0">
                <a:latin typeface="Trebuchet MS"/>
                <a:cs typeface="Trebuchet MS"/>
              </a:rPr>
              <a:t> </a:t>
            </a:r>
            <a:r>
              <a:rPr sz="3000" spc="100" dirty="0">
                <a:latin typeface="Trebuchet MS"/>
                <a:cs typeface="Trebuchet MS"/>
              </a:rPr>
              <a:t>high</a:t>
            </a:r>
            <a:r>
              <a:rPr sz="3000" spc="6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traffic. </a:t>
            </a:r>
            <a:r>
              <a:rPr sz="3000" spc="75" dirty="0">
                <a:latin typeface="Trebuchet MS"/>
                <a:cs typeface="Trebuchet MS"/>
              </a:rPr>
              <a:t>Improved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125" dirty="0">
                <a:latin typeface="Trebuchet MS"/>
                <a:cs typeface="Trebuchet MS"/>
              </a:rPr>
              <a:t>user</a:t>
            </a:r>
            <a:r>
              <a:rPr sz="3000" spc="-5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satisfaction.</a:t>
            </a:r>
            <a:endParaRPr sz="3000">
              <a:latin typeface="Trebuchet MS"/>
              <a:cs typeface="Trebuchet MS"/>
            </a:endParaRPr>
          </a:p>
          <a:p>
            <a:pPr marL="659765" marR="10974705">
              <a:lnSpc>
                <a:spcPct val="114599"/>
              </a:lnSpc>
            </a:pPr>
            <a:r>
              <a:rPr sz="3000" dirty="0">
                <a:latin typeface="Trebuchet MS"/>
                <a:cs typeface="Trebuchet MS"/>
              </a:rPr>
              <a:t>Protection</a:t>
            </a:r>
            <a:r>
              <a:rPr sz="3000" spc="90" dirty="0">
                <a:latin typeface="Trebuchet MS"/>
                <a:cs typeface="Trebuchet MS"/>
              </a:rPr>
              <a:t> </a:t>
            </a:r>
            <a:r>
              <a:rPr sz="3000" spc="100" dirty="0">
                <a:latin typeface="Trebuchet MS"/>
                <a:cs typeface="Trebuchet MS"/>
              </a:rPr>
              <a:t>against</a:t>
            </a:r>
            <a:r>
              <a:rPr sz="3000" spc="90" dirty="0">
                <a:latin typeface="Trebuchet MS"/>
                <a:cs typeface="Trebuchet MS"/>
              </a:rPr>
              <a:t> </a:t>
            </a:r>
            <a:r>
              <a:rPr sz="3000" spc="310" dirty="0">
                <a:latin typeface="Trebuchet MS"/>
                <a:cs typeface="Trebuchet MS"/>
              </a:rPr>
              <a:t>DDoS</a:t>
            </a:r>
            <a:r>
              <a:rPr sz="3000" spc="9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attacks. </a:t>
            </a:r>
            <a:r>
              <a:rPr sz="3000" spc="100" dirty="0">
                <a:latin typeface="Trebuchet MS"/>
                <a:cs typeface="Trebuchet MS"/>
              </a:rPr>
              <a:t>Higher</a:t>
            </a:r>
            <a:r>
              <a:rPr sz="3000" spc="-10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availability</a:t>
            </a:r>
            <a:r>
              <a:rPr sz="3000" spc="-95" dirty="0">
                <a:latin typeface="Trebuchet MS"/>
                <a:cs typeface="Trebuchet MS"/>
              </a:rPr>
              <a:t> </a:t>
            </a:r>
            <a:r>
              <a:rPr sz="3000" spc="130" dirty="0">
                <a:latin typeface="Trebuchet MS"/>
                <a:cs typeface="Trebuchet MS"/>
              </a:rPr>
              <a:t>and</a:t>
            </a:r>
            <a:r>
              <a:rPr sz="3000" spc="-9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reliability.</a:t>
            </a:r>
            <a:endParaRPr sz="3000">
              <a:latin typeface="Trebuchet MS"/>
              <a:cs typeface="Trebuchet MS"/>
            </a:endParaRPr>
          </a:p>
          <a:p>
            <a:pPr marL="3944620">
              <a:lnSpc>
                <a:spcPct val="100000"/>
              </a:lnSpc>
              <a:spcBef>
                <a:spcPts val="20"/>
              </a:spcBef>
            </a:pPr>
            <a:r>
              <a:rPr sz="2500" spc="-10" dirty="0">
                <a:latin typeface="Verdana"/>
                <a:cs typeface="Verdana"/>
              </a:rPr>
              <a:t>Examples:</a:t>
            </a:r>
            <a:endParaRPr sz="2500">
              <a:latin typeface="Verdana"/>
              <a:cs typeface="Verdana"/>
            </a:endParaRPr>
          </a:p>
          <a:p>
            <a:pPr marL="3944620" marR="9424035">
              <a:lnSpc>
                <a:spcPct val="117500"/>
              </a:lnSpc>
            </a:pPr>
            <a:r>
              <a:rPr sz="2500" spc="-45" dirty="0">
                <a:latin typeface="Verdana"/>
                <a:cs typeface="Verdana"/>
              </a:rPr>
              <a:t>Netflix,YouTube,Amazon, </a:t>
            </a:r>
            <a:r>
              <a:rPr sz="2500" spc="-35" dirty="0">
                <a:latin typeface="Verdana"/>
                <a:cs typeface="Verdana"/>
              </a:rPr>
              <a:t>Facebook,Microsoft,Spotify</a:t>
            </a:r>
            <a:endParaRPr sz="2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04900" y="1028700"/>
            <a:ext cx="12148820" cy="0"/>
          </a:xfrm>
          <a:custGeom>
            <a:avLst/>
            <a:gdLst/>
            <a:ahLst/>
            <a:cxnLst/>
            <a:rect l="l" t="t" r="r" b="b"/>
            <a:pathLst>
              <a:path w="12148819">
                <a:moveTo>
                  <a:pt x="0" y="0"/>
                </a:moveTo>
                <a:lnTo>
                  <a:pt x="121485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0747" y="2836294"/>
            <a:ext cx="4968449" cy="46457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328311"/>
            <a:ext cx="4028631" cy="39490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191827" y="839787"/>
            <a:ext cx="10801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latin typeface="Verdana"/>
                <a:cs typeface="Verdana"/>
              </a:rPr>
              <a:t>Page</a:t>
            </a:r>
            <a:r>
              <a:rPr sz="2100" spc="-155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06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89674" y="1508507"/>
            <a:ext cx="48444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70" dirty="0"/>
              <a:t>Practical</a:t>
            </a:r>
            <a:r>
              <a:rPr sz="4200" spc="-465" dirty="0"/>
              <a:t> </a:t>
            </a:r>
            <a:r>
              <a:rPr sz="4200" spc="-400" dirty="0"/>
              <a:t>Example:</a:t>
            </a:r>
            <a:endParaRPr sz="42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213" y="4912012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213" y="5388262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213" y="5864512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pc="-130" dirty="0"/>
              <a:t>Real-</a:t>
            </a:r>
            <a:r>
              <a:rPr spc="-114" dirty="0"/>
              <a:t>World</a:t>
            </a:r>
            <a:r>
              <a:rPr spc="-240" dirty="0"/>
              <a:t> </a:t>
            </a:r>
            <a:r>
              <a:rPr spc="-200" dirty="0"/>
              <a:t>Example:</a:t>
            </a:r>
            <a:r>
              <a:rPr spc="-240" dirty="0"/>
              <a:t> </a:t>
            </a:r>
            <a:r>
              <a:rPr spc="-10" dirty="0"/>
              <a:t>Netflix</a:t>
            </a:r>
          </a:p>
          <a:p>
            <a:pPr marL="12700" marR="5080">
              <a:lnSpc>
                <a:spcPct val="115700"/>
              </a:lnSpc>
              <a:spcBef>
                <a:spcPts val="145"/>
              </a:spcBef>
            </a:pPr>
            <a:r>
              <a:rPr sz="2700" dirty="0">
                <a:latin typeface="Trebuchet MS"/>
                <a:cs typeface="Trebuchet MS"/>
              </a:rPr>
              <a:t>Netflix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delivers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14" dirty="0">
                <a:latin typeface="Trebuchet MS"/>
                <a:cs typeface="Trebuchet MS"/>
              </a:rPr>
              <a:t>movies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spc="114" dirty="0">
                <a:latin typeface="Trebuchet MS"/>
                <a:cs typeface="Trebuchet MS"/>
              </a:rPr>
              <a:t>and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185" dirty="0">
                <a:latin typeface="Trebuchet MS"/>
                <a:cs typeface="Trebuchet MS"/>
              </a:rPr>
              <a:t>TV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spc="200" dirty="0">
                <a:latin typeface="Trebuchet MS"/>
                <a:cs typeface="Trebuchet MS"/>
              </a:rPr>
              <a:t>shows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to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millions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60" dirty="0">
                <a:latin typeface="Trebuchet MS"/>
                <a:cs typeface="Trebuchet MS"/>
              </a:rPr>
              <a:t>of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spc="150" dirty="0">
                <a:latin typeface="Trebuchet MS"/>
                <a:cs typeface="Trebuchet MS"/>
              </a:rPr>
              <a:t>users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worldwide.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To</a:t>
            </a:r>
            <a:r>
              <a:rPr sz="2700" spc="75" dirty="0">
                <a:latin typeface="Trebuchet MS"/>
                <a:cs typeface="Trebuchet MS"/>
              </a:rPr>
              <a:t> provide</a:t>
            </a:r>
            <a:r>
              <a:rPr sz="2700" spc="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uninterrupted</a:t>
            </a:r>
            <a:r>
              <a:rPr sz="2700" spc="7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streaming, </a:t>
            </a:r>
            <a:r>
              <a:rPr sz="2700" spc="-95" dirty="0">
                <a:latin typeface="Trebuchet MS"/>
                <a:cs typeface="Trebuchet MS"/>
              </a:rPr>
              <a:t>it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spc="195" dirty="0">
                <a:latin typeface="Trebuchet MS"/>
                <a:cs typeface="Trebuchet MS"/>
              </a:rPr>
              <a:t>uses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95" dirty="0">
                <a:latin typeface="Trebuchet MS"/>
                <a:cs typeface="Trebuchet MS"/>
              </a:rPr>
              <a:t>a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300" dirty="0">
                <a:latin typeface="Trebuchet MS"/>
                <a:cs typeface="Trebuchet MS"/>
              </a:rPr>
              <a:t>CDN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to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70" dirty="0">
                <a:latin typeface="Trebuchet MS"/>
                <a:cs typeface="Trebuchet MS"/>
              </a:rPr>
              <a:t>store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55" dirty="0">
                <a:latin typeface="Trebuchet MS"/>
                <a:cs typeface="Trebuchet MS"/>
              </a:rPr>
              <a:t>popular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content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125" dirty="0">
                <a:latin typeface="Trebuchet MS"/>
                <a:cs typeface="Trebuchet MS"/>
              </a:rPr>
              <a:t>on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spc="150" dirty="0">
                <a:latin typeface="Trebuchet MS"/>
                <a:cs typeface="Trebuchet MS"/>
              </a:rPr>
              <a:t>edge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125" dirty="0">
                <a:latin typeface="Trebuchet MS"/>
                <a:cs typeface="Trebuchet MS"/>
              </a:rPr>
              <a:t>servers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located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in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different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45" dirty="0">
                <a:latin typeface="Trebuchet MS"/>
                <a:cs typeface="Trebuchet MS"/>
              </a:rPr>
              <a:t>regions.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90" dirty="0"/>
              <a:t>Without</a:t>
            </a:r>
            <a:r>
              <a:rPr spc="-285" dirty="0"/>
              <a:t> </a:t>
            </a:r>
            <a:r>
              <a:rPr spc="-130" dirty="0"/>
              <a:t>a</a:t>
            </a:r>
            <a:r>
              <a:rPr spc="-280" dirty="0"/>
              <a:t> </a:t>
            </a:r>
            <a:r>
              <a:rPr spc="-25" dirty="0"/>
              <a:t>CDN</a:t>
            </a:r>
          </a:p>
          <a:p>
            <a:pPr marL="594995" marR="9682480">
              <a:lnSpc>
                <a:spcPct val="115700"/>
              </a:lnSpc>
              <a:spcBef>
                <a:spcPts val="140"/>
              </a:spcBef>
            </a:pPr>
            <a:r>
              <a:rPr sz="2700" spc="125" dirty="0">
                <a:latin typeface="Trebuchet MS"/>
                <a:cs typeface="Trebuchet MS"/>
              </a:rPr>
              <a:t>Requests</a:t>
            </a:r>
            <a:r>
              <a:rPr sz="2700" spc="-3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travel</a:t>
            </a:r>
            <a:r>
              <a:rPr sz="2700" spc="-3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to</a:t>
            </a:r>
            <a:r>
              <a:rPr sz="2700" spc="-30" dirty="0">
                <a:latin typeface="Trebuchet MS"/>
                <a:cs typeface="Trebuchet MS"/>
              </a:rPr>
              <a:t> </a:t>
            </a:r>
            <a:r>
              <a:rPr sz="2700" spc="95" dirty="0">
                <a:latin typeface="Trebuchet MS"/>
                <a:cs typeface="Trebuchet MS"/>
              </a:rPr>
              <a:t>a</a:t>
            </a:r>
            <a:r>
              <a:rPr sz="2700" spc="-30" dirty="0">
                <a:latin typeface="Trebuchet MS"/>
                <a:cs typeface="Trebuchet MS"/>
              </a:rPr>
              <a:t> </a:t>
            </a:r>
            <a:r>
              <a:rPr sz="2700" spc="45" dirty="0">
                <a:latin typeface="Trebuchet MS"/>
                <a:cs typeface="Trebuchet MS"/>
              </a:rPr>
              <a:t>distant</a:t>
            </a:r>
            <a:r>
              <a:rPr sz="2700" spc="-3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central</a:t>
            </a:r>
            <a:r>
              <a:rPr sz="2700" spc="-3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server. </a:t>
            </a:r>
            <a:r>
              <a:rPr sz="2700" spc="120" dirty="0">
                <a:latin typeface="Trebuchet MS"/>
                <a:cs typeface="Trebuchet MS"/>
              </a:rPr>
              <a:t>Longer</a:t>
            </a:r>
            <a:r>
              <a:rPr sz="2700" spc="-35" dirty="0">
                <a:latin typeface="Trebuchet MS"/>
                <a:cs typeface="Trebuchet MS"/>
              </a:rPr>
              <a:t> </a:t>
            </a:r>
            <a:r>
              <a:rPr sz="2700" spc="135" dirty="0">
                <a:latin typeface="Trebuchet MS"/>
                <a:cs typeface="Trebuchet MS"/>
              </a:rPr>
              <a:t>response</a:t>
            </a:r>
            <a:r>
              <a:rPr sz="2700" spc="-3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time.</a:t>
            </a:r>
            <a:endParaRPr sz="2700">
              <a:latin typeface="Trebuchet MS"/>
              <a:cs typeface="Trebuchet MS"/>
            </a:endParaRPr>
          </a:p>
          <a:p>
            <a:pPr marL="594995" marR="12653645">
              <a:lnSpc>
                <a:spcPct val="115700"/>
              </a:lnSpc>
            </a:pPr>
            <a:r>
              <a:rPr sz="2700" spc="95" dirty="0">
                <a:latin typeface="Trebuchet MS"/>
                <a:cs typeface="Trebuchet MS"/>
              </a:rPr>
              <a:t>Increased</a:t>
            </a:r>
            <a:r>
              <a:rPr sz="2700" spc="-3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buffering. </a:t>
            </a:r>
            <a:r>
              <a:rPr sz="2700" spc="85" dirty="0">
                <a:latin typeface="Trebuchet MS"/>
                <a:cs typeface="Trebuchet MS"/>
              </a:rPr>
              <a:t>Higher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95" dirty="0">
                <a:latin typeface="Trebuchet MS"/>
                <a:cs typeface="Trebuchet MS"/>
              </a:rPr>
              <a:t>server</a:t>
            </a:r>
            <a:r>
              <a:rPr sz="2700" spc="-4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workload.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pc="-90" dirty="0"/>
              <a:t>With</a:t>
            </a:r>
            <a:r>
              <a:rPr spc="-290" dirty="0"/>
              <a:t> </a:t>
            </a:r>
            <a:r>
              <a:rPr spc="-130" dirty="0"/>
              <a:t>a</a:t>
            </a:r>
            <a:r>
              <a:rPr spc="-290" dirty="0"/>
              <a:t> </a:t>
            </a:r>
            <a:r>
              <a:rPr spc="-25" dirty="0"/>
              <a:t>CDN</a:t>
            </a:r>
          </a:p>
          <a:p>
            <a:pPr marL="594995" marR="8162290">
              <a:lnSpc>
                <a:spcPct val="115700"/>
              </a:lnSpc>
              <a:spcBef>
                <a:spcPts val="140"/>
              </a:spcBef>
            </a:pPr>
            <a:r>
              <a:rPr sz="2700" spc="125" dirty="0">
                <a:latin typeface="Trebuchet MS"/>
                <a:cs typeface="Trebuchet MS"/>
              </a:rPr>
              <a:t>Requests</a:t>
            </a:r>
            <a:r>
              <a:rPr sz="2700" spc="3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are</a:t>
            </a:r>
            <a:r>
              <a:rPr sz="2700" spc="3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redirected</a:t>
            </a:r>
            <a:r>
              <a:rPr sz="2700" spc="3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to</a:t>
            </a:r>
            <a:r>
              <a:rPr sz="2700" spc="4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the</a:t>
            </a:r>
            <a:r>
              <a:rPr sz="2700" spc="35" dirty="0">
                <a:latin typeface="Trebuchet MS"/>
                <a:cs typeface="Trebuchet MS"/>
              </a:rPr>
              <a:t> </a:t>
            </a:r>
            <a:r>
              <a:rPr sz="2700" spc="70" dirty="0">
                <a:latin typeface="Trebuchet MS"/>
                <a:cs typeface="Trebuchet MS"/>
              </a:rPr>
              <a:t>nearest</a:t>
            </a:r>
            <a:r>
              <a:rPr sz="2700" spc="35" dirty="0">
                <a:latin typeface="Trebuchet MS"/>
                <a:cs typeface="Trebuchet MS"/>
              </a:rPr>
              <a:t> </a:t>
            </a:r>
            <a:r>
              <a:rPr sz="2700" spc="150" dirty="0">
                <a:latin typeface="Trebuchet MS"/>
                <a:cs typeface="Trebuchet MS"/>
              </a:rPr>
              <a:t>edge</a:t>
            </a:r>
            <a:r>
              <a:rPr sz="2700" spc="4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server. </a:t>
            </a:r>
            <a:r>
              <a:rPr sz="2700" spc="130" dirty="0">
                <a:latin typeface="Trebuchet MS"/>
                <a:cs typeface="Trebuchet MS"/>
              </a:rPr>
              <a:t>Videos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60" dirty="0">
                <a:latin typeface="Trebuchet MS"/>
                <a:cs typeface="Trebuchet MS"/>
              </a:rPr>
              <a:t>load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110" dirty="0">
                <a:latin typeface="Trebuchet MS"/>
                <a:cs typeface="Trebuchet MS"/>
              </a:rPr>
              <a:t>much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faster.</a:t>
            </a:r>
            <a:endParaRPr sz="2700">
              <a:latin typeface="Trebuchet MS"/>
              <a:cs typeface="Trebuchet MS"/>
            </a:endParaRPr>
          </a:p>
          <a:p>
            <a:pPr marL="594995">
              <a:lnSpc>
                <a:spcPct val="100000"/>
              </a:lnSpc>
              <a:spcBef>
                <a:spcPts val="509"/>
              </a:spcBef>
            </a:pPr>
            <a:r>
              <a:rPr sz="2700" spc="120" dirty="0">
                <a:latin typeface="Trebuchet MS"/>
                <a:cs typeface="Trebuchet MS"/>
              </a:rPr>
              <a:t>Reduced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buffering.</a:t>
            </a:r>
            <a:endParaRPr sz="2700">
              <a:latin typeface="Trebuchet MS"/>
              <a:cs typeface="Trebuchet MS"/>
            </a:endParaRPr>
          </a:p>
          <a:p>
            <a:pPr marL="594995" marR="11142345">
              <a:lnSpc>
                <a:spcPct val="115700"/>
              </a:lnSpc>
              <a:spcBef>
                <a:spcPts val="5"/>
              </a:spcBef>
            </a:pPr>
            <a:r>
              <a:rPr sz="2700" dirty="0">
                <a:latin typeface="Trebuchet MS"/>
                <a:cs typeface="Trebuchet MS"/>
              </a:rPr>
              <a:t>Better</a:t>
            </a:r>
            <a:r>
              <a:rPr sz="2700" spc="30" dirty="0">
                <a:latin typeface="Trebuchet MS"/>
                <a:cs typeface="Trebuchet MS"/>
              </a:rPr>
              <a:t> </a:t>
            </a:r>
            <a:r>
              <a:rPr sz="2700" spc="85" dirty="0">
                <a:latin typeface="Trebuchet MS"/>
                <a:cs typeface="Trebuchet MS"/>
              </a:rPr>
              <a:t>viewing</a:t>
            </a:r>
            <a:r>
              <a:rPr sz="2700" spc="3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experience.</a:t>
            </a:r>
            <a:r>
              <a:rPr sz="2700" spc="675" dirty="0">
                <a:latin typeface="Trebuchet MS"/>
                <a:cs typeface="Trebuchet MS"/>
              </a:rPr>
              <a:t> </a:t>
            </a:r>
            <a:r>
              <a:rPr sz="2700" spc="85" dirty="0">
                <a:latin typeface="Trebuchet MS"/>
                <a:cs typeface="Trebuchet MS"/>
              </a:rPr>
              <a:t>Lower</a:t>
            </a:r>
            <a:r>
              <a:rPr sz="2700" dirty="0">
                <a:latin typeface="Trebuchet MS"/>
                <a:cs typeface="Trebuchet MS"/>
              </a:rPr>
              <a:t> traffic</a:t>
            </a:r>
            <a:r>
              <a:rPr sz="2700" spc="5" dirty="0">
                <a:latin typeface="Trebuchet MS"/>
                <a:cs typeface="Trebuchet MS"/>
              </a:rPr>
              <a:t> </a:t>
            </a:r>
            <a:r>
              <a:rPr sz="2700" spc="125" dirty="0">
                <a:latin typeface="Trebuchet MS"/>
                <a:cs typeface="Trebuchet MS"/>
              </a:rPr>
              <a:t>on</a:t>
            </a:r>
            <a:r>
              <a:rPr sz="2700" dirty="0">
                <a:latin typeface="Trebuchet MS"/>
                <a:cs typeface="Trebuchet MS"/>
              </a:rPr>
              <a:t> the</a:t>
            </a:r>
            <a:r>
              <a:rPr sz="2700" spc="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origin </a:t>
            </a:r>
            <a:r>
              <a:rPr sz="2700" spc="-10" dirty="0">
                <a:latin typeface="Trebuchet MS"/>
                <a:cs typeface="Trebuchet MS"/>
              </a:rPr>
              <a:t>server.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04900" y="1028700"/>
            <a:ext cx="12148820" cy="0"/>
          </a:xfrm>
          <a:custGeom>
            <a:avLst/>
            <a:gdLst/>
            <a:ahLst/>
            <a:cxnLst/>
            <a:rect l="l" t="t" r="r" b="b"/>
            <a:pathLst>
              <a:path w="12148819">
                <a:moveTo>
                  <a:pt x="0" y="0"/>
                </a:moveTo>
                <a:lnTo>
                  <a:pt x="121485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4091" y="1390034"/>
            <a:ext cx="4968449" cy="46457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59266" y="6328311"/>
            <a:ext cx="4028732" cy="39490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212216" y="839787"/>
            <a:ext cx="10598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latin typeface="Verdana"/>
                <a:cs typeface="Verdana"/>
              </a:rPr>
              <a:t>Page</a:t>
            </a:r>
            <a:r>
              <a:rPr sz="2100" spc="-155" dirty="0">
                <a:latin typeface="Verdana"/>
                <a:cs typeface="Verdana"/>
              </a:rPr>
              <a:t> </a:t>
            </a:r>
            <a:r>
              <a:rPr sz="2100" spc="-35" dirty="0">
                <a:latin typeface="Verdana"/>
                <a:cs typeface="Verdana"/>
              </a:rPr>
              <a:t>07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69638" y="1549086"/>
            <a:ext cx="74968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05" dirty="0"/>
              <a:t>Advantages</a:t>
            </a:r>
            <a:r>
              <a:rPr sz="4200" spc="-440" dirty="0"/>
              <a:t> </a:t>
            </a:r>
            <a:r>
              <a:rPr sz="4200" spc="-355" dirty="0"/>
              <a:t>and</a:t>
            </a:r>
            <a:r>
              <a:rPr sz="4200" spc="-440" dirty="0"/>
              <a:t> </a:t>
            </a:r>
            <a:r>
              <a:rPr sz="4200" spc="-300" dirty="0"/>
              <a:t>Challenges:</a:t>
            </a:r>
            <a:endParaRPr sz="42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3377486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3853736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4329986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4806236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5282486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5758736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6244511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7349411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7825661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3844" y="8301911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3844" y="8778161"/>
            <a:ext cx="104775" cy="10477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936344" y="2451236"/>
            <a:ext cx="8114030" cy="656082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3500" spc="-10" dirty="0">
                <a:latin typeface="Verdana"/>
                <a:cs typeface="Verdana"/>
              </a:rPr>
              <a:t>Advantages</a:t>
            </a:r>
            <a:endParaRPr sz="3500">
              <a:latin typeface="Verdana"/>
              <a:cs typeface="Verdana"/>
            </a:endParaRPr>
          </a:p>
          <a:p>
            <a:pPr marL="594995" marR="3679825">
              <a:lnSpc>
                <a:spcPct val="115700"/>
              </a:lnSpc>
              <a:spcBef>
                <a:spcPts val="145"/>
              </a:spcBef>
            </a:pPr>
            <a:r>
              <a:rPr sz="2700" spc="85" dirty="0">
                <a:latin typeface="Trebuchet MS"/>
                <a:cs typeface="Trebuchet MS"/>
              </a:rPr>
              <a:t>Faster</a:t>
            </a:r>
            <a:r>
              <a:rPr sz="2700" spc="-4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content</a:t>
            </a:r>
            <a:r>
              <a:rPr sz="2700" spc="-4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delivery. </a:t>
            </a:r>
            <a:r>
              <a:rPr sz="2700" spc="120" dirty="0">
                <a:latin typeface="Trebuchet MS"/>
                <a:cs typeface="Trebuchet MS"/>
              </a:rPr>
              <a:t>Reduced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latency.</a:t>
            </a:r>
            <a:endParaRPr sz="2700">
              <a:latin typeface="Trebuchet MS"/>
              <a:cs typeface="Trebuchet MS"/>
            </a:endParaRPr>
          </a:p>
          <a:p>
            <a:pPr marL="594995" marR="1695450">
              <a:lnSpc>
                <a:spcPct val="115700"/>
              </a:lnSpc>
            </a:pPr>
            <a:r>
              <a:rPr sz="2700" spc="70" dirty="0">
                <a:latin typeface="Trebuchet MS"/>
                <a:cs typeface="Trebuchet MS"/>
              </a:rPr>
              <a:t>Improved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70" dirty="0">
                <a:latin typeface="Trebuchet MS"/>
                <a:cs typeface="Trebuchet MS"/>
              </a:rPr>
              <a:t>website</a:t>
            </a:r>
            <a:r>
              <a:rPr sz="2700" spc="-40" dirty="0">
                <a:latin typeface="Trebuchet MS"/>
                <a:cs typeface="Trebuchet MS"/>
              </a:rPr>
              <a:t> </a:t>
            </a:r>
            <a:r>
              <a:rPr sz="2700" spc="35" dirty="0">
                <a:latin typeface="Trebuchet MS"/>
                <a:cs typeface="Trebuchet MS"/>
              </a:rPr>
              <a:t>performance. </a:t>
            </a:r>
            <a:r>
              <a:rPr sz="2700" spc="85" dirty="0">
                <a:latin typeface="Trebuchet MS"/>
                <a:cs typeface="Trebuchet MS"/>
              </a:rPr>
              <a:t>Lower</a:t>
            </a:r>
            <a:r>
              <a:rPr sz="2700" spc="-35" dirty="0">
                <a:latin typeface="Trebuchet MS"/>
                <a:cs typeface="Trebuchet MS"/>
              </a:rPr>
              <a:t> </a:t>
            </a:r>
            <a:r>
              <a:rPr sz="2700" spc="80" dirty="0">
                <a:latin typeface="Trebuchet MS"/>
                <a:cs typeface="Trebuchet MS"/>
              </a:rPr>
              <a:t>bandwidth</a:t>
            </a:r>
            <a:r>
              <a:rPr sz="2700" spc="-3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consumption. </a:t>
            </a:r>
            <a:r>
              <a:rPr sz="2700" dirty="0">
                <a:latin typeface="Trebuchet MS"/>
                <a:cs typeface="Trebuchet MS"/>
              </a:rPr>
              <a:t>Better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scalability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for</a:t>
            </a:r>
            <a:r>
              <a:rPr sz="2700" spc="65" dirty="0">
                <a:latin typeface="Trebuchet MS"/>
                <a:cs typeface="Trebuchet MS"/>
              </a:rPr>
              <a:t> </a:t>
            </a:r>
            <a:r>
              <a:rPr sz="2700" spc="100" dirty="0">
                <a:latin typeface="Trebuchet MS"/>
                <a:cs typeface="Trebuchet MS"/>
              </a:rPr>
              <a:t>growing</a:t>
            </a:r>
            <a:r>
              <a:rPr sz="2700" spc="6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traffic. </a:t>
            </a:r>
            <a:r>
              <a:rPr sz="2700" spc="114" dirty="0">
                <a:latin typeface="Trebuchet MS"/>
                <a:cs typeface="Trebuchet MS"/>
              </a:rPr>
              <a:t>High</a:t>
            </a:r>
            <a:r>
              <a:rPr sz="2700" spc="-95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availability</a:t>
            </a:r>
            <a:r>
              <a:rPr sz="2700" spc="-95" dirty="0">
                <a:latin typeface="Trebuchet MS"/>
                <a:cs typeface="Trebuchet MS"/>
              </a:rPr>
              <a:t> </a:t>
            </a:r>
            <a:r>
              <a:rPr sz="2700" spc="114" dirty="0">
                <a:latin typeface="Trebuchet MS"/>
                <a:cs typeface="Trebuchet MS"/>
              </a:rPr>
              <a:t>and</a:t>
            </a:r>
            <a:r>
              <a:rPr sz="2700" spc="-9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reliability.</a:t>
            </a:r>
            <a:endParaRPr sz="2700">
              <a:latin typeface="Trebuchet MS"/>
              <a:cs typeface="Trebuchet MS"/>
            </a:endParaRPr>
          </a:p>
          <a:p>
            <a:pPr marL="594995">
              <a:lnSpc>
                <a:spcPct val="100000"/>
              </a:lnSpc>
              <a:spcBef>
                <a:spcPts val="585"/>
              </a:spcBef>
            </a:pPr>
            <a:r>
              <a:rPr sz="2700" spc="120" dirty="0">
                <a:latin typeface="Trebuchet MS"/>
                <a:cs typeface="Trebuchet MS"/>
              </a:rPr>
              <a:t>Enhanced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65" dirty="0">
                <a:latin typeface="Trebuchet MS"/>
                <a:cs typeface="Trebuchet MS"/>
              </a:rPr>
              <a:t>security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85" dirty="0">
                <a:latin typeface="Trebuchet MS"/>
                <a:cs typeface="Trebuchet MS"/>
              </a:rPr>
              <a:t>through</a:t>
            </a:r>
            <a:r>
              <a:rPr sz="2700" spc="-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traffic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distribution</a:t>
            </a:r>
            <a:r>
              <a:rPr sz="2700" spc="-10" dirty="0"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500" spc="-10" dirty="0">
                <a:latin typeface="Verdana"/>
                <a:cs typeface="Verdana"/>
              </a:rPr>
              <a:t>Challenges</a:t>
            </a:r>
            <a:endParaRPr sz="3500">
              <a:latin typeface="Verdana"/>
              <a:cs typeface="Verdana"/>
            </a:endParaRPr>
          </a:p>
          <a:p>
            <a:pPr marL="594995" marR="700405">
              <a:lnSpc>
                <a:spcPct val="115700"/>
              </a:lnSpc>
              <a:spcBef>
                <a:spcPts val="140"/>
              </a:spcBef>
            </a:pPr>
            <a:r>
              <a:rPr sz="2700" spc="-45" dirty="0">
                <a:latin typeface="Trebuchet MS"/>
                <a:cs typeface="Trebuchet MS"/>
              </a:rPr>
              <a:t>Initial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60" dirty="0">
                <a:latin typeface="Trebuchet MS"/>
                <a:cs typeface="Trebuchet MS"/>
              </a:rPr>
              <a:t>deployment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spc="114" dirty="0">
                <a:latin typeface="Trebuchet MS"/>
                <a:cs typeface="Trebuchet MS"/>
              </a:rPr>
              <a:t>and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55" dirty="0">
                <a:latin typeface="Trebuchet MS"/>
                <a:cs typeface="Trebuchet MS"/>
              </a:rPr>
              <a:t>maintenance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spc="80" dirty="0">
                <a:latin typeface="Trebuchet MS"/>
                <a:cs typeface="Trebuchet MS"/>
              </a:rPr>
              <a:t>costs. </a:t>
            </a:r>
            <a:r>
              <a:rPr sz="2700" spc="155" dirty="0">
                <a:latin typeface="Trebuchet MS"/>
                <a:cs typeface="Trebuchet MS"/>
              </a:rPr>
              <a:t>Cache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75" dirty="0">
                <a:latin typeface="Trebuchet MS"/>
                <a:cs typeface="Trebuchet MS"/>
              </a:rPr>
              <a:t>synchronization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90" dirty="0">
                <a:latin typeface="Trebuchet MS"/>
                <a:cs typeface="Trebuchet MS"/>
              </a:rPr>
              <a:t>issues.</a:t>
            </a:r>
            <a:endParaRPr sz="2700">
              <a:latin typeface="Trebuchet MS"/>
              <a:cs typeface="Trebuchet MS"/>
            </a:endParaRPr>
          </a:p>
          <a:p>
            <a:pPr marL="594995" marR="5080">
              <a:lnSpc>
                <a:spcPct val="115700"/>
              </a:lnSpc>
            </a:pPr>
            <a:r>
              <a:rPr sz="2700" spc="100" dirty="0">
                <a:latin typeface="Trebuchet MS"/>
                <a:cs typeface="Trebuchet MS"/>
              </a:rPr>
              <a:t>Dynamic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content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85" dirty="0">
                <a:latin typeface="Trebuchet MS"/>
                <a:cs typeface="Trebuchet MS"/>
              </a:rPr>
              <a:t>is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60" dirty="0">
                <a:latin typeface="Trebuchet MS"/>
                <a:cs typeface="Trebuchet MS"/>
              </a:rPr>
              <a:t>more</a:t>
            </a:r>
            <a:r>
              <a:rPr sz="2700" spc="-5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difficult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to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45" dirty="0">
                <a:latin typeface="Trebuchet MS"/>
                <a:cs typeface="Trebuchet MS"/>
              </a:rPr>
              <a:t>cache. </a:t>
            </a:r>
            <a:r>
              <a:rPr sz="2700" spc="165" dirty="0">
                <a:latin typeface="Trebuchet MS"/>
                <a:cs typeface="Trebuchet MS"/>
              </a:rPr>
              <a:t>Managing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95" dirty="0">
                <a:latin typeface="Trebuchet MS"/>
                <a:cs typeface="Trebuchet MS"/>
              </a:rPr>
              <a:t>a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60" dirty="0">
                <a:latin typeface="Trebuchet MS"/>
                <a:cs typeface="Trebuchet MS"/>
              </a:rPr>
              <a:t>global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60" dirty="0">
                <a:latin typeface="Trebuchet MS"/>
                <a:cs typeface="Trebuchet MS"/>
              </a:rPr>
              <a:t>network</a:t>
            </a:r>
            <a:r>
              <a:rPr sz="2700" spc="-50" dirty="0">
                <a:latin typeface="Trebuchet MS"/>
                <a:cs typeface="Trebuchet MS"/>
              </a:rPr>
              <a:t> </a:t>
            </a:r>
            <a:r>
              <a:rPr sz="2700" spc="50" dirty="0">
                <a:latin typeface="Trebuchet MS"/>
                <a:cs typeface="Trebuchet MS"/>
              </a:rPr>
              <a:t>requires</a:t>
            </a:r>
            <a:r>
              <a:rPr sz="2700" spc="-45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expertise.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56402" y="371707"/>
            <a:ext cx="2231595" cy="46457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328311"/>
            <a:ext cx="4028631" cy="39490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704900" y="1028700"/>
            <a:ext cx="12148820" cy="0"/>
          </a:xfrm>
          <a:custGeom>
            <a:avLst/>
            <a:gdLst/>
            <a:ahLst/>
            <a:cxnLst/>
            <a:rect l="l" t="t" r="r" b="b"/>
            <a:pathLst>
              <a:path w="12148819">
                <a:moveTo>
                  <a:pt x="0" y="0"/>
                </a:moveTo>
                <a:lnTo>
                  <a:pt x="1214858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193017" y="839787"/>
            <a:ext cx="10795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latin typeface="Verdana"/>
                <a:cs typeface="Verdana"/>
              </a:rPr>
              <a:t>Page</a:t>
            </a:r>
            <a:r>
              <a:rPr sz="2100" spc="-155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08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499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Conclusion</a:t>
            </a:r>
            <a:r>
              <a:rPr spc="-305" dirty="0">
                <a:solidFill>
                  <a:srgbClr val="000000"/>
                </a:solidFill>
              </a:rPr>
              <a:t>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19950" y="3034016"/>
            <a:ext cx="12186285" cy="325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700"/>
              </a:lnSpc>
              <a:spcBef>
                <a:spcPts val="95"/>
              </a:spcBef>
            </a:pPr>
            <a:r>
              <a:rPr sz="3050" spc="105" dirty="0">
                <a:latin typeface="Trebuchet MS"/>
                <a:cs typeface="Trebuchet MS"/>
              </a:rPr>
              <a:t>Content</a:t>
            </a:r>
            <a:r>
              <a:rPr sz="3050" spc="715" dirty="0">
                <a:latin typeface="Trebuchet MS"/>
                <a:cs typeface="Trebuchet MS"/>
              </a:rPr>
              <a:t>  </a:t>
            </a:r>
            <a:r>
              <a:rPr sz="3050" spc="75" dirty="0">
                <a:latin typeface="Trebuchet MS"/>
                <a:cs typeface="Trebuchet MS"/>
              </a:rPr>
              <a:t>Delivery</a:t>
            </a:r>
            <a:r>
              <a:rPr sz="3050" spc="725" dirty="0">
                <a:latin typeface="Trebuchet MS"/>
                <a:cs typeface="Trebuchet MS"/>
              </a:rPr>
              <a:t>  </a:t>
            </a:r>
            <a:r>
              <a:rPr sz="3050" spc="145" dirty="0">
                <a:latin typeface="Trebuchet MS"/>
                <a:cs typeface="Trebuchet MS"/>
              </a:rPr>
              <a:t>Networks</a:t>
            </a:r>
            <a:r>
              <a:rPr sz="3050" spc="720" dirty="0">
                <a:latin typeface="Trebuchet MS"/>
                <a:cs typeface="Trebuchet MS"/>
              </a:rPr>
              <a:t>  </a:t>
            </a:r>
            <a:r>
              <a:rPr sz="3050" spc="120" dirty="0">
                <a:latin typeface="Trebuchet MS"/>
                <a:cs typeface="Trebuchet MS"/>
              </a:rPr>
              <a:t>have</a:t>
            </a:r>
            <a:r>
              <a:rPr sz="3050" spc="725" dirty="0">
                <a:latin typeface="Trebuchet MS"/>
                <a:cs typeface="Trebuchet MS"/>
              </a:rPr>
              <a:t>  </a:t>
            </a:r>
            <a:r>
              <a:rPr sz="3050" spc="155" dirty="0">
                <a:latin typeface="Trebuchet MS"/>
                <a:cs typeface="Trebuchet MS"/>
              </a:rPr>
              <a:t>become</a:t>
            </a:r>
            <a:r>
              <a:rPr sz="3050" spc="725" dirty="0">
                <a:latin typeface="Trebuchet MS"/>
                <a:cs typeface="Trebuchet MS"/>
              </a:rPr>
              <a:t>  </a:t>
            </a:r>
            <a:r>
              <a:rPr sz="3050" spc="125" dirty="0">
                <a:latin typeface="Trebuchet MS"/>
                <a:cs typeface="Trebuchet MS"/>
              </a:rPr>
              <a:t>a</a:t>
            </a:r>
            <a:r>
              <a:rPr sz="3050" spc="725" dirty="0">
                <a:latin typeface="Trebuchet MS"/>
                <a:cs typeface="Trebuchet MS"/>
              </a:rPr>
              <a:t>  </a:t>
            </a:r>
            <a:r>
              <a:rPr sz="3050" spc="55" dirty="0">
                <a:latin typeface="Trebuchet MS"/>
                <a:cs typeface="Trebuchet MS"/>
              </a:rPr>
              <a:t>fundamental </a:t>
            </a:r>
            <a:r>
              <a:rPr sz="3050" spc="125" dirty="0">
                <a:latin typeface="Trebuchet MS"/>
                <a:cs typeface="Trebuchet MS"/>
              </a:rPr>
              <a:t>component</a:t>
            </a:r>
            <a:r>
              <a:rPr sz="3050" spc="280" dirty="0">
                <a:latin typeface="Trebuchet MS"/>
                <a:cs typeface="Trebuchet MS"/>
              </a:rPr>
              <a:t> </a:t>
            </a:r>
            <a:r>
              <a:rPr sz="3050" spc="80" dirty="0">
                <a:latin typeface="Trebuchet MS"/>
                <a:cs typeface="Trebuchet MS"/>
              </a:rPr>
              <a:t>of</a:t>
            </a:r>
            <a:r>
              <a:rPr sz="3050" spc="290" dirty="0">
                <a:latin typeface="Trebuchet MS"/>
                <a:cs typeface="Trebuchet MS"/>
              </a:rPr>
              <a:t> </a:t>
            </a:r>
            <a:r>
              <a:rPr sz="3050" spc="100" dirty="0">
                <a:latin typeface="Trebuchet MS"/>
                <a:cs typeface="Trebuchet MS"/>
              </a:rPr>
              <a:t>cloud</a:t>
            </a:r>
            <a:r>
              <a:rPr sz="3050" spc="290" dirty="0">
                <a:latin typeface="Trebuchet MS"/>
                <a:cs typeface="Trebuchet MS"/>
              </a:rPr>
              <a:t> </a:t>
            </a:r>
            <a:r>
              <a:rPr sz="3050" spc="110" dirty="0">
                <a:latin typeface="Trebuchet MS"/>
                <a:cs typeface="Trebuchet MS"/>
              </a:rPr>
              <a:t>computing</a:t>
            </a:r>
            <a:r>
              <a:rPr sz="3050" spc="290" dirty="0">
                <a:latin typeface="Trebuchet MS"/>
                <a:cs typeface="Trebuchet MS"/>
              </a:rPr>
              <a:t> </a:t>
            </a:r>
            <a:r>
              <a:rPr sz="3050" spc="170" dirty="0">
                <a:latin typeface="Trebuchet MS"/>
                <a:cs typeface="Trebuchet MS"/>
              </a:rPr>
              <a:t>by</a:t>
            </a:r>
            <a:r>
              <a:rPr sz="3050" spc="295" dirty="0">
                <a:latin typeface="Trebuchet MS"/>
                <a:cs typeface="Trebuchet MS"/>
              </a:rPr>
              <a:t> </a:t>
            </a:r>
            <a:r>
              <a:rPr sz="3050" spc="85" dirty="0">
                <a:latin typeface="Trebuchet MS"/>
                <a:cs typeface="Trebuchet MS"/>
              </a:rPr>
              <a:t>enabling</a:t>
            </a:r>
            <a:r>
              <a:rPr sz="3050" spc="29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faster,</a:t>
            </a:r>
            <a:r>
              <a:rPr sz="3050" spc="290" dirty="0">
                <a:latin typeface="Trebuchet MS"/>
                <a:cs typeface="Trebuchet MS"/>
              </a:rPr>
              <a:t> </a:t>
            </a:r>
            <a:r>
              <a:rPr sz="3050" spc="90" dirty="0">
                <a:latin typeface="Trebuchet MS"/>
                <a:cs typeface="Trebuchet MS"/>
              </a:rPr>
              <a:t>more</a:t>
            </a:r>
            <a:r>
              <a:rPr sz="3050" spc="290" dirty="0">
                <a:latin typeface="Trebuchet MS"/>
                <a:cs typeface="Trebuchet MS"/>
              </a:rPr>
              <a:t> </a:t>
            </a:r>
            <a:r>
              <a:rPr sz="3050" spc="65" dirty="0">
                <a:latin typeface="Trebuchet MS"/>
                <a:cs typeface="Trebuchet MS"/>
              </a:rPr>
              <a:t>secure, </a:t>
            </a:r>
            <a:r>
              <a:rPr sz="3050" spc="150" dirty="0">
                <a:latin typeface="Trebuchet MS"/>
                <a:cs typeface="Trebuchet MS"/>
              </a:rPr>
              <a:t>and</a:t>
            </a:r>
            <a:r>
              <a:rPr sz="3050" spc="-55" dirty="0">
                <a:latin typeface="Trebuchet MS"/>
                <a:cs typeface="Trebuchet MS"/>
              </a:rPr>
              <a:t>  </a:t>
            </a:r>
            <a:r>
              <a:rPr sz="3050" dirty="0">
                <a:latin typeface="Trebuchet MS"/>
                <a:cs typeface="Trebuchet MS"/>
              </a:rPr>
              <a:t>reliable</a:t>
            </a:r>
            <a:r>
              <a:rPr sz="3050" spc="-55" dirty="0">
                <a:latin typeface="Trebuchet MS"/>
                <a:cs typeface="Trebuchet MS"/>
              </a:rPr>
              <a:t>  </a:t>
            </a:r>
            <a:r>
              <a:rPr sz="3050" spc="55" dirty="0">
                <a:latin typeface="Trebuchet MS"/>
                <a:cs typeface="Trebuchet MS"/>
              </a:rPr>
              <a:t>delivery</a:t>
            </a:r>
            <a:r>
              <a:rPr sz="3050" spc="-55" dirty="0">
                <a:latin typeface="Trebuchet MS"/>
                <a:cs typeface="Trebuchet MS"/>
              </a:rPr>
              <a:t>  </a:t>
            </a:r>
            <a:r>
              <a:rPr sz="3050" spc="80" dirty="0">
                <a:latin typeface="Trebuchet MS"/>
                <a:cs typeface="Trebuchet MS"/>
              </a:rPr>
              <a:t>of</a:t>
            </a:r>
            <a:r>
              <a:rPr sz="3050" spc="-55" dirty="0">
                <a:latin typeface="Trebuchet MS"/>
                <a:cs typeface="Trebuchet MS"/>
              </a:rPr>
              <a:t>  </a:t>
            </a:r>
            <a:r>
              <a:rPr sz="3050" dirty="0">
                <a:latin typeface="Trebuchet MS"/>
                <a:cs typeface="Trebuchet MS"/>
              </a:rPr>
              <a:t>digital</a:t>
            </a:r>
            <a:r>
              <a:rPr sz="3050" spc="-55" dirty="0">
                <a:latin typeface="Trebuchet MS"/>
                <a:cs typeface="Trebuchet MS"/>
              </a:rPr>
              <a:t>  </a:t>
            </a:r>
            <a:r>
              <a:rPr sz="3050" dirty="0">
                <a:latin typeface="Trebuchet MS"/>
                <a:cs typeface="Trebuchet MS"/>
              </a:rPr>
              <a:t>content.</a:t>
            </a:r>
            <a:r>
              <a:rPr sz="3050" spc="-50" dirty="0">
                <a:latin typeface="Trebuchet MS"/>
                <a:cs typeface="Trebuchet MS"/>
              </a:rPr>
              <a:t>  </a:t>
            </a:r>
            <a:r>
              <a:rPr sz="3050" spc="240" dirty="0">
                <a:latin typeface="Trebuchet MS"/>
                <a:cs typeface="Trebuchet MS"/>
              </a:rPr>
              <a:t>By</a:t>
            </a:r>
            <a:r>
              <a:rPr sz="3050" spc="-55" dirty="0">
                <a:latin typeface="Trebuchet MS"/>
                <a:cs typeface="Trebuchet MS"/>
              </a:rPr>
              <a:t>  </a:t>
            </a:r>
            <a:r>
              <a:rPr sz="3050" spc="55" dirty="0">
                <a:latin typeface="Trebuchet MS"/>
                <a:cs typeface="Trebuchet MS"/>
              </a:rPr>
              <a:t>distributing</a:t>
            </a:r>
            <a:r>
              <a:rPr sz="3050" spc="-55" dirty="0">
                <a:latin typeface="Trebuchet MS"/>
                <a:cs typeface="Trebuchet MS"/>
              </a:rPr>
              <a:t>  </a:t>
            </a:r>
            <a:r>
              <a:rPr sz="3050" spc="150" dirty="0">
                <a:latin typeface="Trebuchet MS"/>
                <a:cs typeface="Trebuchet MS"/>
              </a:rPr>
              <a:t>cached </a:t>
            </a:r>
            <a:r>
              <a:rPr sz="3050" spc="75" dirty="0">
                <a:latin typeface="Trebuchet MS"/>
                <a:cs typeface="Trebuchet MS"/>
              </a:rPr>
              <a:t>content</a:t>
            </a:r>
            <a:r>
              <a:rPr sz="3050" spc="110" dirty="0">
                <a:latin typeface="Trebuchet MS"/>
                <a:cs typeface="Trebuchet MS"/>
              </a:rPr>
              <a:t>  </a:t>
            </a:r>
            <a:r>
              <a:rPr sz="3050" spc="195" dirty="0">
                <a:latin typeface="Trebuchet MS"/>
                <a:cs typeface="Trebuchet MS"/>
              </a:rPr>
              <a:t>across</a:t>
            </a:r>
            <a:r>
              <a:rPr sz="3050" spc="114" dirty="0">
                <a:latin typeface="Trebuchet MS"/>
                <a:cs typeface="Trebuchet MS"/>
              </a:rPr>
              <a:t>  </a:t>
            </a:r>
            <a:r>
              <a:rPr sz="3050" dirty="0">
                <a:latin typeface="Trebuchet MS"/>
                <a:cs typeface="Trebuchet MS"/>
              </a:rPr>
              <a:t>multiple</a:t>
            </a:r>
            <a:r>
              <a:rPr sz="3050" spc="114" dirty="0">
                <a:latin typeface="Trebuchet MS"/>
                <a:cs typeface="Trebuchet MS"/>
              </a:rPr>
              <a:t>  </a:t>
            </a:r>
            <a:r>
              <a:rPr sz="3050" spc="190" dirty="0">
                <a:latin typeface="Trebuchet MS"/>
                <a:cs typeface="Trebuchet MS"/>
              </a:rPr>
              <a:t>edge</a:t>
            </a:r>
            <a:r>
              <a:rPr sz="3050" spc="110" dirty="0">
                <a:latin typeface="Trebuchet MS"/>
                <a:cs typeface="Trebuchet MS"/>
              </a:rPr>
              <a:t>  </a:t>
            </a:r>
            <a:r>
              <a:rPr sz="3050" spc="105" dirty="0">
                <a:latin typeface="Trebuchet MS"/>
                <a:cs typeface="Trebuchet MS"/>
              </a:rPr>
              <a:t>servers,</a:t>
            </a:r>
            <a:r>
              <a:rPr sz="3050" spc="114" dirty="0">
                <a:latin typeface="Trebuchet MS"/>
                <a:cs typeface="Trebuchet MS"/>
              </a:rPr>
              <a:t>  </a:t>
            </a:r>
            <a:r>
              <a:rPr sz="3050" spc="360" dirty="0">
                <a:latin typeface="Trebuchet MS"/>
                <a:cs typeface="Trebuchet MS"/>
              </a:rPr>
              <a:t>CDNs</a:t>
            </a:r>
            <a:r>
              <a:rPr sz="3050" spc="114" dirty="0">
                <a:latin typeface="Trebuchet MS"/>
                <a:cs typeface="Trebuchet MS"/>
              </a:rPr>
              <a:t>  </a:t>
            </a:r>
            <a:r>
              <a:rPr sz="3050" spc="110" dirty="0">
                <a:latin typeface="Trebuchet MS"/>
                <a:cs typeface="Trebuchet MS"/>
              </a:rPr>
              <a:t>reduce</a:t>
            </a:r>
            <a:r>
              <a:rPr sz="3050" spc="114" dirty="0">
                <a:latin typeface="Trebuchet MS"/>
                <a:cs typeface="Trebuchet MS"/>
              </a:rPr>
              <a:t>  </a:t>
            </a:r>
            <a:r>
              <a:rPr sz="3050" spc="-10" dirty="0">
                <a:latin typeface="Trebuchet MS"/>
                <a:cs typeface="Trebuchet MS"/>
              </a:rPr>
              <a:t>latency, </a:t>
            </a:r>
            <a:r>
              <a:rPr sz="3050" spc="65" dirty="0">
                <a:latin typeface="Trebuchet MS"/>
                <a:cs typeface="Trebuchet MS"/>
              </a:rPr>
              <a:t>improve</a:t>
            </a:r>
            <a:r>
              <a:rPr sz="3050" spc="300" dirty="0">
                <a:latin typeface="Trebuchet MS"/>
                <a:cs typeface="Trebuchet MS"/>
              </a:rPr>
              <a:t>  </a:t>
            </a:r>
            <a:r>
              <a:rPr sz="3050" spc="45" dirty="0">
                <a:latin typeface="Trebuchet MS"/>
                <a:cs typeface="Trebuchet MS"/>
              </a:rPr>
              <a:t>application</a:t>
            </a:r>
            <a:r>
              <a:rPr sz="3050" spc="315" dirty="0">
                <a:latin typeface="Trebuchet MS"/>
                <a:cs typeface="Trebuchet MS"/>
              </a:rPr>
              <a:t>  </a:t>
            </a:r>
            <a:r>
              <a:rPr sz="3050" spc="70" dirty="0">
                <a:latin typeface="Trebuchet MS"/>
                <a:cs typeface="Trebuchet MS"/>
              </a:rPr>
              <a:t>performance,</a:t>
            </a:r>
            <a:r>
              <a:rPr sz="3050" spc="310" dirty="0">
                <a:latin typeface="Trebuchet MS"/>
                <a:cs typeface="Trebuchet MS"/>
              </a:rPr>
              <a:t>  </a:t>
            </a:r>
            <a:r>
              <a:rPr sz="3050" spc="150" dirty="0">
                <a:latin typeface="Trebuchet MS"/>
                <a:cs typeface="Trebuchet MS"/>
              </a:rPr>
              <a:t>and</a:t>
            </a:r>
            <a:r>
              <a:rPr sz="3050" spc="310" dirty="0">
                <a:latin typeface="Trebuchet MS"/>
                <a:cs typeface="Trebuchet MS"/>
              </a:rPr>
              <a:t>  </a:t>
            </a:r>
            <a:r>
              <a:rPr sz="3050" spc="125" dirty="0">
                <a:latin typeface="Trebuchet MS"/>
                <a:cs typeface="Trebuchet MS"/>
              </a:rPr>
              <a:t>ensure</a:t>
            </a:r>
            <a:r>
              <a:rPr sz="3050" spc="310" dirty="0">
                <a:latin typeface="Trebuchet MS"/>
                <a:cs typeface="Trebuchet MS"/>
              </a:rPr>
              <a:t>  </a:t>
            </a:r>
            <a:r>
              <a:rPr sz="3050" spc="185" dirty="0">
                <a:latin typeface="Trebuchet MS"/>
                <a:cs typeface="Trebuchet MS"/>
              </a:rPr>
              <a:t>users</a:t>
            </a:r>
            <a:r>
              <a:rPr sz="3050" spc="315" dirty="0">
                <a:latin typeface="Trebuchet MS"/>
                <a:cs typeface="Trebuchet MS"/>
              </a:rPr>
              <a:t>  </a:t>
            </a:r>
            <a:r>
              <a:rPr sz="3050" spc="55" dirty="0">
                <a:latin typeface="Trebuchet MS"/>
                <a:cs typeface="Trebuchet MS"/>
              </a:rPr>
              <a:t>receive </a:t>
            </a:r>
            <a:r>
              <a:rPr sz="3050" spc="75" dirty="0">
                <a:latin typeface="Trebuchet MS"/>
                <a:cs typeface="Trebuchet MS"/>
              </a:rPr>
              <a:t>content</a:t>
            </a:r>
            <a:r>
              <a:rPr sz="3050" spc="-45" dirty="0">
                <a:latin typeface="Trebuchet MS"/>
                <a:cs typeface="Trebuchet MS"/>
              </a:rPr>
              <a:t> </a:t>
            </a:r>
            <a:r>
              <a:rPr sz="3050" spc="65" dirty="0">
                <a:latin typeface="Trebuchet MS"/>
                <a:cs typeface="Trebuchet MS"/>
              </a:rPr>
              <a:t>quickly</a:t>
            </a:r>
            <a:r>
              <a:rPr sz="3050" spc="-40" dirty="0">
                <a:latin typeface="Trebuchet MS"/>
                <a:cs typeface="Trebuchet MS"/>
              </a:rPr>
              <a:t> </a:t>
            </a:r>
            <a:r>
              <a:rPr sz="3050" spc="130" dirty="0">
                <a:latin typeface="Trebuchet MS"/>
                <a:cs typeface="Trebuchet MS"/>
              </a:rPr>
              <a:t>regardless</a:t>
            </a:r>
            <a:r>
              <a:rPr sz="3050" spc="-40" dirty="0">
                <a:latin typeface="Trebuchet MS"/>
                <a:cs typeface="Trebuchet MS"/>
              </a:rPr>
              <a:t> </a:t>
            </a:r>
            <a:r>
              <a:rPr sz="3050" spc="80" dirty="0">
                <a:latin typeface="Trebuchet MS"/>
                <a:cs typeface="Trebuchet MS"/>
              </a:rPr>
              <a:t>of</a:t>
            </a:r>
            <a:r>
              <a:rPr sz="3050" spc="-40" dirty="0">
                <a:latin typeface="Trebuchet MS"/>
                <a:cs typeface="Trebuchet MS"/>
              </a:rPr>
              <a:t> </a:t>
            </a:r>
            <a:r>
              <a:rPr sz="3050" dirty="0">
                <a:latin typeface="Trebuchet MS"/>
                <a:cs typeface="Trebuchet MS"/>
              </a:rPr>
              <a:t>their</a:t>
            </a:r>
            <a:r>
              <a:rPr sz="3050" spc="-40" dirty="0">
                <a:latin typeface="Trebuchet MS"/>
                <a:cs typeface="Trebuchet MS"/>
              </a:rPr>
              <a:t> </a:t>
            </a:r>
            <a:r>
              <a:rPr sz="3050" spc="-10" dirty="0">
                <a:latin typeface="Trebuchet MS"/>
                <a:cs typeface="Trebuchet MS"/>
              </a:rPr>
              <a:t>location.</a:t>
            </a:r>
            <a:endParaRPr sz="3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3000" y="3071492"/>
            <a:ext cx="9994900" cy="2064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350" b="0" i="1" spc="1235" dirty="0">
                <a:solidFill>
                  <a:srgbClr val="000000"/>
                </a:solidFill>
                <a:latin typeface="Verdana"/>
                <a:cs typeface="Verdana"/>
              </a:rPr>
              <a:t>Thank</a:t>
            </a:r>
            <a:r>
              <a:rPr sz="13350" b="0" i="1" spc="-200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3350" b="0" i="1" spc="1175" dirty="0">
                <a:solidFill>
                  <a:srgbClr val="000000"/>
                </a:solidFill>
                <a:latin typeface="Verdana"/>
                <a:cs typeface="Verdana"/>
              </a:rPr>
              <a:t>You</a:t>
            </a:r>
            <a:endParaRPr sz="13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514</Words>
  <Application>Microsoft Office PowerPoint</Application>
  <PresentationFormat>Custom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Trebuchet MS</vt:lpstr>
      <vt:lpstr>Verdana</vt:lpstr>
      <vt:lpstr>Office Theme</vt:lpstr>
      <vt:lpstr>Technical Presentation</vt:lpstr>
      <vt:lpstr>Objective:</vt:lpstr>
      <vt:lpstr>Definition &amp; Core Technical Explanation:</vt:lpstr>
      <vt:lpstr>PowerPoint Presentation</vt:lpstr>
      <vt:lpstr>Industry Relevance:</vt:lpstr>
      <vt:lpstr>Practical Example:</vt:lpstr>
      <vt:lpstr>Advantages and Challenges:</vt:lpstr>
      <vt:lpstr>Conclusion: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Delivery Networks (CDNs) and Their Role in Cloud Services</dc:title>
  <dc:creator>florina christona</dc:creator>
  <cp:keywords>DAHP2nIGKCI,BAGuAayGwk4</cp:keywords>
  <cp:lastModifiedBy>Kavina g</cp:lastModifiedBy>
  <cp:revision>1</cp:revision>
  <dcterms:created xsi:type="dcterms:W3CDTF">2026-07-22T14:57:30Z</dcterms:created>
  <dcterms:modified xsi:type="dcterms:W3CDTF">2026-07-22T14:58:42Z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2026-07-19T00:00:00Z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2026-07-22T00:00:00Z</vt:filetime>
  </property>
  <property fmtid="{D5CDD505-2E9C-101B-9397-08002B2CF9AE}" pid="6" name="Producer">
    <vt:lpwstr>Canva</vt:lpwstr>
  </property>
</Properties>
</file>